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2E"/>
        </a:solidFill>
      </p:bgPr>
    </p:bg>
    <p:spTree>
      <p:nvGrpSpPr>
        <p:cNvPr id="1" name=""/>
        <p:cNvGrpSpPr/>
        <p:nvPr/>
      </p:nvGrpSpPr>
      <p:grpSpPr>
        <a:xfrm>
          <a:off x="0" y="0"/>
          <a:ext cx="0" cy="0"/>
          <a:chOff x="0" y="0"/>
          <a:chExt cx="0" cy="0"/>
        </a:xfrm>
      </p:grpSpPr>
      <p:sp>
        <p:nvSpPr>
          <p:cNvPr id="2" name="Shape 0"/>
          <p:cNvSpPr/>
          <p:nvPr/>
        </p:nvSpPr>
        <p:spPr>
          <a:xfrm>
            <a:off x="8778240" y="-1828800"/>
            <a:ext cx="5120640" cy="5120640"/>
          </a:xfrm>
          <a:prstGeom prst="ellipse">
            <a:avLst/>
          </a:prstGeom>
          <a:solidFill>
            <a:srgbClr val="0E1A20"/>
          </a:solidFill>
          <a:ln/>
        </p:spPr>
      </p:sp>
      <p:sp>
        <p:nvSpPr>
          <p:cNvPr id="3" name="Shape 1"/>
          <p:cNvSpPr/>
          <p:nvPr/>
        </p:nvSpPr>
        <p:spPr>
          <a:xfrm>
            <a:off x="10972800" y="4572000"/>
            <a:ext cx="2560320" cy="2560320"/>
          </a:xfrm>
          <a:prstGeom prst="ellipse">
            <a:avLst/>
          </a:prstGeom>
          <a:solidFill>
            <a:srgbClr val="35C88A"/>
          </a:solidFill>
          <a:ln/>
        </p:spPr>
      </p:sp>
      <p:sp>
        <p:nvSpPr>
          <p:cNvPr id="4" name="Text 2"/>
          <p:cNvSpPr/>
          <p:nvPr/>
        </p:nvSpPr>
        <p:spPr>
          <a:xfrm>
            <a:off x="731520" y="1371600"/>
            <a:ext cx="8229600" cy="365760"/>
          </a:xfrm>
          <a:prstGeom prst="rect">
            <a:avLst/>
          </a:prstGeom>
          <a:noFill/>
          <a:ln/>
        </p:spPr>
        <p:txBody>
          <a:bodyPr wrap="square" rtlCol="0" anchor="ctr"/>
          <a:lstStyle/>
          <a:p>
            <a:pPr indent="0" marL="0">
              <a:buNone/>
            </a:pPr>
            <a:r>
              <a:rPr lang="en-US" sz="1400" b="1" spc="150" kern="0" dirty="0">
                <a:solidFill>
                  <a:srgbClr val="35C88A"/>
                </a:solidFill>
                <a:latin typeface="Calibri" pitchFamily="34" charset="0"/>
                <a:ea typeface="Calibri" pitchFamily="34" charset="-122"/>
                <a:cs typeface="Calibri" pitchFamily="34" charset="-120"/>
              </a:rPr>
              <a:t>ISO/IEC 27010 — SEGURIDAD DE LA INFORMACIÓN</a:t>
            </a:r>
            <a:endParaRPr lang="en-US" sz="1400" dirty="0"/>
          </a:p>
        </p:txBody>
      </p:sp>
      <p:sp>
        <p:nvSpPr>
          <p:cNvPr id="5" name="Text 3"/>
          <p:cNvSpPr/>
          <p:nvPr/>
        </p:nvSpPr>
        <p:spPr>
          <a:xfrm>
            <a:off x="731520" y="1874520"/>
            <a:ext cx="10058400" cy="109728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La Infraestructura como Pilar</a:t>
            </a:r>
            <a:endParaRPr lang="en-US" sz="3800" dirty="0"/>
          </a:p>
        </p:txBody>
      </p:sp>
      <p:sp>
        <p:nvSpPr>
          <p:cNvPr id="6" name="Text 4"/>
          <p:cNvSpPr/>
          <p:nvPr/>
        </p:nvSpPr>
        <p:spPr>
          <a:xfrm>
            <a:off x="731520" y="2560320"/>
            <a:ext cx="10058400" cy="91440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de la Calidad y la Seguridad</a:t>
            </a:r>
            <a:endParaRPr lang="en-US" sz="3800" dirty="0"/>
          </a:p>
        </p:txBody>
      </p:sp>
      <p:sp>
        <p:nvSpPr>
          <p:cNvPr id="7" name="Text 5"/>
          <p:cNvSpPr/>
          <p:nvPr/>
        </p:nvSpPr>
        <p:spPr>
          <a:xfrm>
            <a:off x="731520" y="3520440"/>
            <a:ext cx="9144000" cy="457200"/>
          </a:xfrm>
          <a:prstGeom prst="rect">
            <a:avLst/>
          </a:prstGeom>
          <a:noFill/>
          <a:ln/>
        </p:spPr>
        <p:txBody>
          <a:bodyPr wrap="square" rtlCol="0" anchor="ctr"/>
          <a:lstStyle/>
          <a:p>
            <a:pPr indent="0" marL="0">
              <a:buNone/>
            </a:pPr>
            <a:r>
              <a:rPr lang="en-US" sz="1500" i="1" dirty="0">
                <a:solidFill>
                  <a:srgbClr val="A9B7BC"/>
                </a:solidFill>
                <a:latin typeface="Calibri" pitchFamily="34" charset="0"/>
                <a:ea typeface="Calibri" pitchFamily="34" charset="-122"/>
                <a:cs typeface="Calibri" pitchFamily="34" charset="-120"/>
              </a:rPr>
              <a:t>Escalabilidad, disponibilidad y safety bajo el enfoque de la ISO/IEC 27010</a:t>
            </a:r>
            <a:endParaRPr lang="en-US" sz="1500" dirty="0"/>
          </a:p>
        </p:txBody>
      </p:sp>
      <p:sp>
        <p:nvSpPr>
          <p:cNvPr id="8" name="Shape 6"/>
          <p:cNvSpPr/>
          <p:nvPr/>
        </p:nvSpPr>
        <p:spPr>
          <a:xfrm>
            <a:off x="731520" y="5074920"/>
            <a:ext cx="1463040" cy="0"/>
          </a:xfrm>
          <a:prstGeom prst="line">
            <a:avLst/>
          </a:prstGeom>
          <a:noFill/>
          <a:ln w="38100">
            <a:solidFill>
              <a:srgbClr val="FF6E52"/>
            </a:solidFill>
            <a:prstDash val="solid"/>
          </a:ln>
        </p:spPr>
      </p:sp>
      <p:sp>
        <p:nvSpPr>
          <p:cNvPr id="9" name="Text 7"/>
          <p:cNvSpPr/>
          <p:nvPr/>
        </p:nvSpPr>
        <p:spPr>
          <a:xfrm>
            <a:off x="731520" y="5257800"/>
            <a:ext cx="5486400" cy="365760"/>
          </a:xfrm>
          <a:prstGeom prst="rect">
            <a:avLst/>
          </a:prstGeom>
          <a:noFill/>
          <a:ln/>
        </p:spPr>
        <p:txBody>
          <a:bodyPr wrap="square" rtlCol="0" anchor="ctr"/>
          <a:lstStyle/>
          <a:p>
            <a:pPr indent="0" marL="0">
              <a:buNone/>
            </a:pPr>
            <a:r>
              <a:rPr lang="en-US" sz="1300" dirty="0">
                <a:solidFill>
                  <a:srgbClr val="8A9AA1"/>
                </a:solidFill>
                <a:latin typeface="Calibri" pitchFamily="34" charset="0"/>
                <a:ea typeface="Calibri" pitchFamily="34" charset="-122"/>
                <a:cs typeface="Calibri" pitchFamily="34" charset="-120"/>
              </a:rPr>
              <a:t>Ingeniería de Software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150" kern="0" dirty="0">
                <a:solidFill>
                  <a:srgbClr val="FF6E52"/>
                </a:solidFill>
                <a:latin typeface="Calibri" pitchFamily="34" charset="0"/>
                <a:ea typeface="Calibri" pitchFamily="34" charset="-122"/>
                <a:cs typeface="Calibri" pitchFamily="34" charset="-120"/>
              </a:rPr>
              <a:t>¿QUÉ ES LA ISO/IEC 27010?</a:t>
            </a:r>
            <a:endParaRPr lang="en-US" sz="1300" dirty="0"/>
          </a:p>
        </p:txBody>
      </p:sp>
      <p:sp>
        <p:nvSpPr>
          <p:cNvPr id="3" name="Text 1"/>
          <p:cNvSpPr/>
          <p:nvPr/>
        </p:nvSpPr>
        <p:spPr>
          <a:xfrm>
            <a:off x="548640" y="713232"/>
            <a:ext cx="10789920" cy="548640"/>
          </a:xfrm>
          <a:prstGeom prst="rect">
            <a:avLst/>
          </a:prstGeom>
          <a:noFill/>
          <a:ln/>
        </p:spPr>
        <p:txBody>
          <a:bodyPr wrap="square" rtlCol="0" anchor="ctr"/>
          <a:lstStyle/>
          <a:p>
            <a:pPr indent="0" marL="0">
              <a:buNone/>
            </a:pPr>
            <a:r>
              <a:rPr lang="en-US" sz="2400" b="1" dirty="0">
                <a:solidFill>
                  <a:srgbClr val="16262E"/>
                </a:solidFill>
                <a:latin typeface="Calibri" pitchFamily="34" charset="0"/>
                <a:ea typeface="Calibri" pitchFamily="34" charset="-122"/>
                <a:cs typeface="Calibri" pitchFamily="34" charset="-120"/>
              </a:rPr>
              <a:t>Seguridad más allá de nuestras fronteras</a:t>
            </a:r>
            <a:endParaRPr lang="en-US" sz="2400" dirty="0"/>
          </a:p>
        </p:txBody>
      </p:sp>
      <p:sp>
        <p:nvSpPr>
          <p:cNvPr id="4" name="Shape 2"/>
          <p:cNvSpPr/>
          <p:nvPr/>
        </p:nvSpPr>
        <p:spPr>
          <a:xfrm>
            <a:off x="548640" y="1691640"/>
            <a:ext cx="10789920" cy="1280160"/>
          </a:xfrm>
          <a:prstGeom prst="roundRect">
            <a:avLst>
              <a:gd name="adj" fmla="val 5714"/>
            </a:avLst>
          </a:prstGeom>
          <a:solidFill>
            <a:srgbClr val="F4F7F6"/>
          </a:solidFill>
          <a:ln/>
        </p:spPr>
      </p:sp>
      <p:sp>
        <p:nvSpPr>
          <p:cNvPr id="5" name="Shape 3"/>
          <p:cNvSpPr/>
          <p:nvPr/>
        </p:nvSpPr>
        <p:spPr>
          <a:xfrm>
            <a:off x="777240" y="2011680"/>
            <a:ext cx="640080" cy="640080"/>
          </a:xfrm>
          <a:prstGeom prst="roundRect">
            <a:avLst>
              <a:gd name="adj" fmla="val 14286"/>
            </a:avLst>
          </a:prstGeom>
          <a:solidFill>
            <a:srgbClr val="35C88A"/>
          </a:solidFill>
          <a:ln/>
        </p:spPr>
      </p:sp>
      <p:sp>
        <p:nvSpPr>
          <p:cNvPr id="6" name="Text 4"/>
          <p:cNvSpPr/>
          <p:nvPr/>
        </p:nvSpPr>
        <p:spPr>
          <a:xfrm>
            <a:off x="777240" y="201168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1691640" y="1856232"/>
            <a:ext cx="9509760" cy="365760"/>
          </a:xfrm>
          <a:prstGeom prst="rect">
            <a:avLst/>
          </a:prstGeom>
          <a:noFill/>
          <a:ln/>
        </p:spPr>
        <p:txBody>
          <a:bodyPr wrap="square" rtlCol="0" anchor="ctr"/>
          <a:lstStyle/>
          <a:p>
            <a:pPr indent="0" marL="0">
              <a:buNone/>
            </a:pPr>
            <a:r>
              <a:rPr lang="en-US" sz="1550" b="1" dirty="0">
                <a:solidFill>
                  <a:srgbClr val="16262E"/>
                </a:solidFill>
                <a:latin typeface="Calibri" pitchFamily="34" charset="0"/>
                <a:ea typeface="Calibri" pitchFamily="34" charset="-122"/>
                <a:cs typeface="Calibri" pitchFamily="34" charset="-120"/>
              </a:rPr>
              <a:t>Enfoque de la norma</a:t>
            </a:r>
            <a:endParaRPr lang="en-US" sz="1550" dirty="0"/>
          </a:p>
        </p:txBody>
      </p:sp>
      <p:sp>
        <p:nvSpPr>
          <p:cNvPr id="8" name="Text 6"/>
          <p:cNvSpPr/>
          <p:nvPr/>
        </p:nvSpPr>
        <p:spPr>
          <a:xfrm>
            <a:off x="1691640" y="2221992"/>
            <a:ext cx="9509760" cy="685800"/>
          </a:xfrm>
          <a:prstGeom prst="rect">
            <a:avLst/>
          </a:prstGeom>
          <a:noFill/>
          <a:ln/>
        </p:spPr>
        <p:txBody>
          <a:bodyPr wrap="square"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Directrices para el intercambio seguro de información entre organizaciones, sectores o comunidades (B2B, B2G, infraestructuras compartidas).</a:t>
            </a:r>
            <a:endParaRPr lang="en-US" sz="1200" dirty="0"/>
          </a:p>
        </p:txBody>
      </p:sp>
      <p:sp>
        <p:nvSpPr>
          <p:cNvPr id="9" name="Shape 7"/>
          <p:cNvSpPr/>
          <p:nvPr/>
        </p:nvSpPr>
        <p:spPr>
          <a:xfrm>
            <a:off x="548640" y="3172968"/>
            <a:ext cx="10789920" cy="1280160"/>
          </a:xfrm>
          <a:prstGeom prst="roundRect">
            <a:avLst>
              <a:gd name="adj" fmla="val 5714"/>
            </a:avLst>
          </a:prstGeom>
          <a:solidFill>
            <a:srgbClr val="F4F7F6"/>
          </a:solidFill>
          <a:ln/>
        </p:spPr>
      </p:sp>
      <p:sp>
        <p:nvSpPr>
          <p:cNvPr id="10" name="Shape 8"/>
          <p:cNvSpPr/>
          <p:nvPr/>
        </p:nvSpPr>
        <p:spPr>
          <a:xfrm>
            <a:off x="777240" y="3493008"/>
            <a:ext cx="640080" cy="640080"/>
          </a:xfrm>
          <a:prstGeom prst="roundRect">
            <a:avLst>
              <a:gd name="adj" fmla="val 14286"/>
            </a:avLst>
          </a:prstGeom>
          <a:solidFill>
            <a:srgbClr val="FF6E52"/>
          </a:solidFill>
          <a:ln/>
        </p:spPr>
      </p:sp>
      <p:sp>
        <p:nvSpPr>
          <p:cNvPr id="11" name="Text 9"/>
          <p:cNvSpPr/>
          <p:nvPr/>
        </p:nvSpPr>
        <p:spPr>
          <a:xfrm>
            <a:off x="777240" y="3493008"/>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1691640" y="3337560"/>
            <a:ext cx="9509760" cy="365760"/>
          </a:xfrm>
          <a:prstGeom prst="rect">
            <a:avLst/>
          </a:prstGeom>
          <a:noFill/>
          <a:ln/>
        </p:spPr>
        <p:txBody>
          <a:bodyPr wrap="square" rtlCol="0" anchor="ctr"/>
          <a:lstStyle/>
          <a:p>
            <a:pPr indent="0" marL="0">
              <a:buNone/>
            </a:pPr>
            <a:r>
              <a:rPr lang="en-US" sz="1550" b="1" dirty="0">
                <a:solidFill>
                  <a:srgbClr val="16262E"/>
                </a:solidFill>
                <a:latin typeface="Calibri" pitchFamily="34" charset="0"/>
                <a:ea typeface="Calibri" pitchFamily="34" charset="-122"/>
                <a:cs typeface="Calibri" pitchFamily="34" charset="-120"/>
              </a:rPr>
              <a:t>El desafío moderno</a:t>
            </a:r>
            <a:endParaRPr lang="en-US" sz="1550" dirty="0"/>
          </a:p>
        </p:txBody>
      </p:sp>
      <p:sp>
        <p:nvSpPr>
          <p:cNvPr id="13" name="Text 11"/>
          <p:cNvSpPr/>
          <p:nvPr/>
        </p:nvSpPr>
        <p:spPr>
          <a:xfrm>
            <a:off x="1691640" y="3703320"/>
            <a:ext cx="9509760" cy="685800"/>
          </a:xfrm>
          <a:prstGeom prst="rect">
            <a:avLst/>
          </a:prstGeom>
          <a:noFill/>
          <a:ln/>
        </p:spPr>
        <p:txBody>
          <a:bodyPr wrap="square"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Los sistemas ya no están aislados: consumen APIs de terceros (pagos, mapas, identidad) y se alojan en nubes públicas compartiendo recursos.</a:t>
            </a:r>
            <a:endParaRPr lang="en-US" sz="1200" dirty="0"/>
          </a:p>
        </p:txBody>
      </p:sp>
      <p:sp>
        <p:nvSpPr>
          <p:cNvPr id="14" name="Shape 12"/>
          <p:cNvSpPr/>
          <p:nvPr/>
        </p:nvSpPr>
        <p:spPr>
          <a:xfrm>
            <a:off x="548640" y="4654296"/>
            <a:ext cx="10789920" cy="1280160"/>
          </a:xfrm>
          <a:prstGeom prst="roundRect">
            <a:avLst>
              <a:gd name="adj" fmla="val 5714"/>
            </a:avLst>
          </a:prstGeom>
          <a:solidFill>
            <a:srgbClr val="F4F7F6"/>
          </a:solidFill>
          <a:ln/>
        </p:spPr>
      </p:sp>
      <p:sp>
        <p:nvSpPr>
          <p:cNvPr id="15" name="Shape 13"/>
          <p:cNvSpPr/>
          <p:nvPr/>
        </p:nvSpPr>
        <p:spPr>
          <a:xfrm>
            <a:off x="777240" y="4974336"/>
            <a:ext cx="640080" cy="640080"/>
          </a:xfrm>
          <a:prstGeom prst="roundRect">
            <a:avLst>
              <a:gd name="adj" fmla="val 14286"/>
            </a:avLst>
          </a:prstGeom>
          <a:solidFill>
            <a:srgbClr val="16262E"/>
          </a:solidFill>
          <a:ln/>
        </p:spPr>
      </p:sp>
      <p:sp>
        <p:nvSpPr>
          <p:cNvPr id="16" name="Text 14"/>
          <p:cNvSpPr/>
          <p:nvPr/>
        </p:nvSpPr>
        <p:spPr>
          <a:xfrm>
            <a:off x="777240" y="4974336"/>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1691640" y="4818888"/>
            <a:ext cx="9509760" cy="365760"/>
          </a:xfrm>
          <a:prstGeom prst="rect">
            <a:avLst/>
          </a:prstGeom>
          <a:noFill/>
          <a:ln/>
        </p:spPr>
        <p:txBody>
          <a:bodyPr wrap="square" rtlCol="0" anchor="ctr"/>
          <a:lstStyle/>
          <a:p>
            <a:pPr indent="0" marL="0">
              <a:buNone/>
            </a:pPr>
            <a:r>
              <a:rPr lang="en-US" sz="1550" b="1" dirty="0">
                <a:solidFill>
                  <a:srgbClr val="16262E"/>
                </a:solidFill>
                <a:latin typeface="Calibri" pitchFamily="34" charset="0"/>
                <a:ea typeface="Calibri" pitchFamily="34" charset="-122"/>
                <a:cs typeface="Calibri" pitchFamily="34" charset="-120"/>
              </a:rPr>
              <a:t>El objetivo</a:t>
            </a:r>
            <a:endParaRPr lang="en-US" sz="1550" dirty="0"/>
          </a:p>
        </p:txBody>
      </p:sp>
      <p:sp>
        <p:nvSpPr>
          <p:cNvPr id="18" name="Text 16"/>
          <p:cNvSpPr/>
          <p:nvPr/>
        </p:nvSpPr>
        <p:spPr>
          <a:xfrm>
            <a:off x="1691640" y="5184648"/>
            <a:ext cx="9509760" cy="685800"/>
          </a:xfrm>
          <a:prstGeom prst="rect">
            <a:avLst/>
          </a:prstGeom>
          <a:noFill/>
          <a:ln/>
        </p:spPr>
        <p:txBody>
          <a:bodyPr wrap="square"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Crear “vínculos de confianza” técnicos y organizativos para un intercambio de información confidencial, seguro y resiliente.</a:t>
            </a:r>
            <a:endParaRPr lang="en-US" sz="1200" dirty="0"/>
          </a:p>
        </p:txBody>
      </p:sp>
      <p:sp>
        <p:nvSpPr>
          <p:cNvPr id="19" name="Text 17"/>
          <p:cNvSpPr/>
          <p:nvPr/>
        </p:nvSpPr>
        <p:spPr>
          <a:xfrm>
            <a:off x="457200" y="6537960"/>
            <a:ext cx="3657600" cy="274320"/>
          </a:xfrm>
          <a:prstGeom prst="rect">
            <a:avLst/>
          </a:prstGeom>
          <a:noFill/>
          <a:ln/>
        </p:spPr>
        <p:txBody>
          <a:bodyPr wrap="square" rtlCol="0" anchor="ctr"/>
          <a:lstStyle/>
          <a:p>
            <a:pPr indent="0" marL="0">
              <a:buNone/>
            </a:pPr>
            <a:r>
              <a:rPr lang="en-US" sz="900" dirty="0">
                <a:solidFill>
                  <a:srgbClr val="68767D"/>
                </a:solidFill>
                <a:latin typeface="Calibri" pitchFamily="34" charset="0"/>
                <a:ea typeface="Calibri" pitchFamily="34" charset="-122"/>
                <a:cs typeface="Calibri" pitchFamily="34" charset="-120"/>
              </a:rPr>
              <a:t>ISO/IEC 27010</a:t>
            </a:r>
            <a:endParaRPr lang="en-US" sz="900" dirty="0"/>
          </a:p>
        </p:txBody>
      </p:sp>
      <p:sp>
        <p:nvSpPr>
          <p:cNvPr id="20" name="Text 18"/>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8767D"/>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62E"/>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150" kern="0" dirty="0">
                <a:solidFill>
                  <a:srgbClr val="35C88A"/>
                </a:solidFill>
                <a:latin typeface="Calibri" pitchFamily="34" charset="0"/>
                <a:ea typeface="Calibri" pitchFamily="34" charset="-122"/>
                <a:cs typeface="Calibri" pitchFamily="34" charset="-120"/>
              </a:rPr>
              <a:t>LA PREMISA FUNDAMENTAL</a:t>
            </a:r>
            <a:endParaRPr lang="en-US" sz="1300" dirty="0"/>
          </a:p>
        </p:txBody>
      </p:sp>
      <p:sp>
        <p:nvSpPr>
          <p:cNvPr id="3" name="Text 1"/>
          <p:cNvSpPr/>
          <p:nvPr/>
        </p:nvSpPr>
        <p:spPr>
          <a:xfrm>
            <a:off x="548640" y="713232"/>
            <a:ext cx="10789920" cy="54864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La infraestructura determina la calidad</a:t>
            </a:r>
            <a:endParaRPr lang="en-US" sz="2400" dirty="0"/>
          </a:p>
        </p:txBody>
      </p:sp>
      <p:sp>
        <p:nvSpPr>
          <p:cNvPr id="4" name="Text 2"/>
          <p:cNvSpPr/>
          <p:nvPr/>
        </p:nvSpPr>
        <p:spPr>
          <a:xfrm>
            <a:off x="548640" y="1280160"/>
            <a:ext cx="10789920" cy="457200"/>
          </a:xfrm>
          <a:prstGeom prst="rect">
            <a:avLst/>
          </a:prstGeom>
          <a:noFill/>
          <a:ln/>
        </p:spPr>
        <p:txBody>
          <a:bodyPr wrap="square" rtlCol="0" anchor="ctr"/>
          <a:lstStyle/>
          <a:p>
            <a:pPr indent="0" marL="0">
              <a:buNone/>
            </a:pPr>
            <a:r>
              <a:rPr lang="en-US" sz="1400" i="1" dirty="0">
                <a:solidFill>
                  <a:srgbClr val="A9B7BC"/>
                </a:solidFill>
                <a:latin typeface="Calibri" pitchFamily="34" charset="0"/>
                <a:ea typeface="Calibri" pitchFamily="34" charset="-122"/>
                <a:cs typeface="Calibri" pitchFamily="34" charset="-120"/>
              </a:rPr>
              <a:t>El código perfecto puede fallar en una infraestructura frágil.</a:t>
            </a:r>
            <a:endParaRPr lang="en-US" sz="1400" dirty="0"/>
          </a:p>
        </p:txBody>
      </p:sp>
      <p:sp>
        <p:nvSpPr>
          <p:cNvPr id="5" name="Shape 3"/>
          <p:cNvSpPr/>
          <p:nvPr/>
        </p:nvSpPr>
        <p:spPr>
          <a:xfrm>
            <a:off x="548640" y="2011680"/>
            <a:ext cx="3520440" cy="3200400"/>
          </a:xfrm>
          <a:prstGeom prst="roundRect">
            <a:avLst>
              <a:gd name="adj" fmla="val 2571"/>
            </a:avLst>
          </a:prstGeom>
          <a:solidFill>
            <a:srgbClr val="0E1A20"/>
          </a:solidFill>
          <a:ln w="12700">
            <a:solidFill>
              <a:srgbClr val="35C88A"/>
            </a:solidFill>
            <a:prstDash val="solid"/>
          </a:ln>
        </p:spPr>
      </p:sp>
      <p:sp>
        <p:nvSpPr>
          <p:cNvPr id="6" name="Text 4"/>
          <p:cNvSpPr/>
          <p:nvPr/>
        </p:nvSpPr>
        <p:spPr>
          <a:xfrm>
            <a:off x="822960" y="2286000"/>
            <a:ext cx="2971800" cy="640080"/>
          </a:xfrm>
          <a:prstGeom prst="rect">
            <a:avLst/>
          </a:prstGeom>
          <a:noFill/>
          <a:ln/>
        </p:spPr>
        <p:txBody>
          <a:bodyPr wrap="square" rtlCol="0" anchor="ctr"/>
          <a:lstStyle/>
          <a:p>
            <a:pPr indent="0" marL="0">
              <a:buNone/>
            </a:pPr>
            <a:r>
              <a:rPr lang="en-US" sz="1600" b="1" dirty="0">
                <a:solidFill>
                  <a:srgbClr val="35C88A"/>
                </a:solidFill>
                <a:latin typeface="Calibri" pitchFamily="34" charset="0"/>
                <a:ea typeface="Calibri" pitchFamily="34" charset="-122"/>
                <a:cs typeface="Calibri" pitchFamily="34" charset="-120"/>
              </a:rPr>
              <a:t>Escalabilidad</a:t>
            </a:r>
            <a:endParaRPr lang="en-US" sz="1600" dirty="0"/>
          </a:p>
        </p:txBody>
      </p:sp>
      <p:sp>
        <p:nvSpPr>
          <p:cNvPr id="7" name="Text 5"/>
          <p:cNvSpPr/>
          <p:nvPr/>
        </p:nvSpPr>
        <p:spPr>
          <a:xfrm>
            <a:off x="822960" y="3017520"/>
            <a:ext cx="2971800" cy="2011680"/>
          </a:xfrm>
          <a:prstGeom prst="rect">
            <a:avLst/>
          </a:prstGeom>
          <a:noFill/>
          <a:ln/>
        </p:spPr>
        <p:txBody>
          <a:bodyPr wrap="square" rtlCol="0" anchor="t"/>
          <a:lstStyle/>
          <a:p>
            <a:pPr indent="0" marL="0">
              <a:buNone/>
            </a:pPr>
            <a:r>
              <a:rPr lang="en-US" sz="1250" dirty="0">
                <a:solidFill>
                  <a:srgbClr val="D7E0E3"/>
                </a:solidFill>
                <a:latin typeface="Calibri" pitchFamily="34" charset="0"/>
                <a:ea typeface="Calibri" pitchFamily="34" charset="-122"/>
                <a:cs typeface="Calibri" pitchFamily="34" charset="-120"/>
              </a:rPr>
              <a:t>Ya no es solo agregar más memoria (scale-up); es orquestar miles de contenedores dinámicamente (scale-out).</a:t>
            </a:r>
            <a:endParaRPr lang="en-US" sz="1250" dirty="0"/>
          </a:p>
        </p:txBody>
      </p:sp>
      <p:sp>
        <p:nvSpPr>
          <p:cNvPr id="8" name="Shape 6"/>
          <p:cNvSpPr/>
          <p:nvPr/>
        </p:nvSpPr>
        <p:spPr>
          <a:xfrm>
            <a:off x="4343400" y="2011680"/>
            <a:ext cx="3520440" cy="3200400"/>
          </a:xfrm>
          <a:prstGeom prst="roundRect">
            <a:avLst>
              <a:gd name="adj" fmla="val 2571"/>
            </a:avLst>
          </a:prstGeom>
          <a:solidFill>
            <a:srgbClr val="0E1A20"/>
          </a:solidFill>
          <a:ln w="12700">
            <a:solidFill>
              <a:srgbClr val="FF6E52"/>
            </a:solidFill>
            <a:prstDash val="solid"/>
          </a:ln>
        </p:spPr>
      </p:sp>
      <p:sp>
        <p:nvSpPr>
          <p:cNvPr id="9" name="Text 7"/>
          <p:cNvSpPr/>
          <p:nvPr/>
        </p:nvSpPr>
        <p:spPr>
          <a:xfrm>
            <a:off x="4617720" y="2286000"/>
            <a:ext cx="2971800" cy="640080"/>
          </a:xfrm>
          <a:prstGeom prst="rect">
            <a:avLst/>
          </a:prstGeom>
          <a:noFill/>
          <a:ln/>
        </p:spPr>
        <p:txBody>
          <a:bodyPr wrap="square" rtlCol="0" anchor="ctr"/>
          <a:lstStyle/>
          <a:p>
            <a:pPr indent="0" marL="0">
              <a:buNone/>
            </a:pPr>
            <a:r>
              <a:rPr lang="en-US" sz="1600" b="1" dirty="0">
                <a:solidFill>
                  <a:srgbClr val="FF6E52"/>
                </a:solidFill>
                <a:latin typeface="Calibri" pitchFamily="34" charset="0"/>
                <a:ea typeface="Calibri" pitchFamily="34" charset="-122"/>
                <a:cs typeface="Calibri" pitchFamily="34" charset="-120"/>
              </a:rPr>
              <a:t>Disponibilidad</a:t>
            </a:r>
            <a:endParaRPr lang="en-US" sz="1600" dirty="0"/>
          </a:p>
        </p:txBody>
      </p:sp>
      <p:sp>
        <p:nvSpPr>
          <p:cNvPr id="10" name="Text 8"/>
          <p:cNvSpPr/>
          <p:nvPr/>
        </p:nvSpPr>
        <p:spPr>
          <a:xfrm>
            <a:off x="4617720" y="3017520"/>
            <a:ext cx="2971800" cy="2011680"/>
          </a:xfrm>
          <a:prstGeom prst="rect">
            <a:avLst/>
          </a:prstGeom>
          <a:noFill/>
          <a:ln/>
        </p:spPr>
        <p:txBody>
          <a:bodyPr wrap="square" rtlCol="0" anchor="t"/>
          <a:lstStyle/>
          <a:p>
            <a:pPr indent="0" marL="0">
              <a:buNone/>
            </a:pPr>
            <a:r>
              <a:rPr lang="en-US" sz="1250" dirty="0">
                <a:solidFill>
                  <a:srgbClr val="D7E0E3"/>
                </a:solidFill>
                <a:latin typeface="Calibri" pitchFamily="34" charset="0"/>
                <a:ea typeface="Calibri" pitchFamily="34" charset="-122"/>
                <a:cs typeface="Calibri" pitchFamily="34" charset="-120"/>
              </a:rPr>
              <a:t>Depende de redes redundantes, balanceadores de carga y arquitecturas distribuidas.</a:t>
            </a:r>
            <a:endParaRPr lang="en-US" sz="1250" dirty="0"/>
          </a:p>
        </p:txBody>
      </p:sp>
      <p:sp>
        <p:nvSpPr>
          <p:cNvPr id="11" name="Shape 9"/>
          <p:cNvSpPr/>
          <p:nvPr/>
        </p:nvSpPr>
        <p:spPr>
          <a:xfrm>
            <a:off x="8138160" y="2011680"/>
            <a:ext cx="3520440" cy="3200400"/>
          </a:xfrm>
          <a:prstGeom prst="roundRect">
            <a:avLst>
              <a:gd name="adj" fmla="val 2571"/>
            </a:avLst>
          </a:prstGeom>
          <a:solidFill>
            <a:srgbClr val="0E1A20"/>
          </a:solidFill>
          <a:ln w="12700">
            <a:solidFill>
              <a:srgbClr val="35C88A"/>
            </a:solidFill>
            <a:prstDash val="solid"/>
          </a:ln>
        </p:spPr>
      </p:sp>
      <p:sp>
        <p:nvSpPr>
          <p:cNvPr id="12" name="Text 10"/>
          <p:cNvSpPr/>
          <p:nvPr/>
        </p:nvSpPr>
        <p:spPr>
          <a:xfrm>
            <a:off x="8412480" y="2286000"/>
            <a:ext cx="2971800" cy="640080"/>
          </a:xfrm>
          <a:prstGeom prst="rect">
            <a:avLst/>
          </a:prstGeom>
          <a:noFill/>
          <a:ln/>
        </p:spPr>
        <p:txBody>
          <a:bodyPr wrap="square" rtlCol="0" anchor="ctr"/>
          <a:lstStyle/>
          <a:p>
            <a:pPr indent="0" marL="0">
              <a:buNone/>
            </a:pPr>
            <a:r>
              <a:rPr lang="en-US" sz="1600" b="1" dirty="0">
                <a:solidFill>
                  <a:srgbClr val="35C88A"/>
                </a:solidFill>
                <a:latin typeface="Calibri" pitchFamily="34" charset="0"/>
                <a:ea typeface="Calibri" pitchFamily="34" charset="-122"/>
                <a:cs typeface="Calibri" pitchFamily="34" charset="-120"/>
              </a:rPr>
              <a:t>Safety (seguridad operacional)</a:t>
            </a:r>
            <a:endParaRPr lang="en-US" sz="1600" dirty="0"/>
          </a:p>
        </p:txBody>
      </p:sp>
      <p:sp>
        <p:nvSpPr>
          <p:cNvPr id="13" name="Text 11"/>
          <p:cNvSpPr/>
          <p:nvPr/>
        </p:nvSpPr>
        <p:spPr>
          <a:xfrm>
            <a:off x="8412480" y="3017520"/>
            <a:ext cx="2971800" cy="2011680"/>
          </a:xfrm>
          <a:prstGeom prst="rect">
            <a:avLst/>
          </a:prstGeom>
          <a:noFill/>
          <a:ln/>
        </p:spPr>
        <p:txBody>
          <a:bodyPr wrap="square" rtlCol="0" anchor="t"/>
          <a:lstStyle/>
          <a:p>
            <a:pPr indent="0" marL="0">
              <a:buNone/>
            </a:pPr>
            <a:r>
              <a:rPr lang="en-US" sz="1250" dirty="0">
                <a:solidFill>
                  <a:srgbClr val="D7E0E3"/>
                </a:solidFill>
                <a:latin typeface="Calibri" pitchFamily="34" charset="0"/>
                <a:ea typeface="Calibri" pitchFamily="34" charset="-122"/>
                <a:cs typeface="Calibri" pitchFamily="34" charset="-120"/>
              </a:rPr>
              <a:t>En infraestructuras críticas compartidas (energía, salud), un fallo de red puede poner vidas en riesgo.</a:t>
            </a:r>
            <a:endParaRPr lang="en-US" sz="1250" dirty="0"/>
          </a:p>
        </p:txBody>
      </p:sp>
      <p:sp>
        <p:nvSpPr>
          <p:cNvPr id="14" name="Text 12"/>
          <p:cNvSpPr/>
          <p:nvPr/>
        </p:nvSpPr>
        <p:spPr>
          <a:xfrm>
            <a:off x="548640" y="5440680"/>
            <a:ext cx="10789920" cy="457200"/>
          </a:xfrm>
          <a:prstGeom prst="rect">
            <a:avLst/>
          </a:prstGeom>
          <a:noFill/>
          <a:ln/>
        </p:spPr>
        <p:txBody>
          <a:bodyPr wrap="square" rtlCol="0" anchor="ctr"/>
          <a:lstStyle/>
          <a:p>
            <a:pPr indent="0" marL="0">
              <a:buNone/>
            </a:pPr>
            <a:r>
              <a:rPr lang="en-US" sz="1300" b="1" i="1" dirty="0">
                <a:solidFill>
                  <a:srgbClr val="35C88A"/>
                </a:solidFill>
                <a:latin typeface="Calibri" pitchFamily="34" charset="0"/>
                <a:ea typeface="Calibri" pitchFamily="34" charset="-122"/>
                <a:cs typeface="Calibri" pitchFamily="34" charset="-120"/>
              </a:rPr>
              <a:t>La calidad y la seguridad inter-organizacional (ISO 27010) dependen de cómo se despliega el software.</a:t>
            </a:r>
            <a:endParaRPr lang="en-US" sz="1300" dirty="0"/>
          </a:p>
        </p:txBody>
      </p:sp>
      <p:sp>
        <p:nvSpPr>
          <p:cNvPr id="15" name="Text 13"/>
          <p:cNvSpPr/>
          <p:nvPr/>
        </p:nvSpPr>
        <p:spPr>
          <a:xfrm>
            <a:off x="457200" y="6537960"/>
            <a:ext cx="3657600" cy="274320"/>
          </a:xfrm>
          <a:prstGeom prst="rect">
            <a:avLst/>
          </a:prstGeom>
          <a:noFill/>
          <a:ln/>
        </p:spPr>
        <p:txBody>
          <a:bodyPr wrap="square" rtlCol="0" anchor="ctr"/>
          <a:lstStyle/>
          <a:p>
            <a:pPr indent="0" marL="0">
              <a:buNone/>
            </a:pPr>
            <a:r>
              <a:rPr lang="en-US" sz="900" dirty="0">
                <a:solidFill>
                  <a:srgbClr val="68767D"/>
                </a:solidFill>
                <a:latin typeface="Calibri" pitchFamily="34" charset="0"/>
                <a:ea typeface="Calibri" pitchFamily="34" charset="-122"/>
                <a:cs typeface="Calibri" pitchFamily="34" charset="-120"/>
              </a:rPr>
              <a:t>ISO/IEC 27010</a:t>
            </a:r>
            <a:endParaRPr lang="en-US" sz="900" dirty="0"/>
          </a:p>
        </p:txBody>
      </p:sp>
      <p:sp>
        <p:nvSpPr>
          <p:cNvPr id="16" name="Text 14"/>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8767D"/>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150" kern="0" dirty="0">
                <a:solidFill>
                  <a:srgbClr val="FF6E52"/>
                </a:solidFill>
                <a:latin typeface="Calibri" pitchFamily="34" charset="0"/>
                <a:ea typeface="Calibri" pitchFamily="34" charset="-122"/>
                <a:cs typeface="Calibri" pitchFamily="34" charset="-120"/>
              </a:rPr>
              <a:t>KUBERNETES Y LAS FRONTERAS DE CONFIANZA</a:t>
            </a:r>
            <a:endParaRPr lang="en-US" sz="1300" dirty="0"/>
          </a:p>
        </p:txBody>
      </p:sp>
      <p:sp>
        <p:nvSpPr>
          <p:cNvPr id="3" name="Text 1"/>
          <p:cNvSpPr/>
          <p:nvPr/>
        </p:nvSpPr>
        <p:spPr>
          <a:xfrm>
            <a:off x="548640" y="713232"/>
            <a:ext cx="10789920" cy="548640"/>
          </a:xfrm>
          <a:prstGeom prst="rect">
            <a:avLst/>
          </a:prstGeom>
          <a:noFill/>
          <a:ln/>
        </p:spPr>
        <p:txBody>
          <a:bodyPr wrap="square" rtlCol="0" anchor="ctr"/>
          <a:lstStyle/>
          <a:p>
            <a:pPr indent="0" marL="0">
              <a:buNone/>
            </a:pPr>
            <a:r>
              <a:rPr lang="en-US" sz="2200" b="1" dirty="0">
                <a:solidFill>
                  <a:srgbClr val="16262E"/>
                </a:solidFill>
                <a:latin typeface="Calibri" pitchFamily="34" charset="0"/>
                <a:ea typeface="Calibri" pitchFamily="34" charset="-122"/>
                <a:cs typeface="Calibri" pitchFamily="34" charset="-120"/>
              </a:rPr>
              <a:t>Orquestando comunicaciones inter-organizacionales</a:t>
            </a:r>
            <a:endParaRPr lang="en-US" sz="2200" dirty="0"/>
          </a:p>
        </p:txBody>
      </p:sp>
      <p:sp>
        <p:nvSpPr>
          <p:cNvPr id="4" name="Shape 2"/>
          <p:cNvSpPr/>
          <p:nvPr/>
        </p:nvSpPr>
        <p:spPr>
          <a:xfrm>
            <a:off x="548640" y="1737360"/>
            <a:ext cx="3520440" cy="4206240"/>
          </a:xfrm>
          <a:prstGeom prst="roundRect">
            <a:avLst>
              <a:gd name="adj" fmla="val 2338"/>
            </a:avLst>
          </a:prstGeom>
          <a:solidFill>
            <a:srgbClr val="F4F7F6"/>
          </a:solidFill>
          <a:ln w="15875">
            <a:solidFill>
              <a:srgbClr val="35C88A"/>
            </a:solidFill>
            <a:prstDash val="solid"/>
          </a:ln>
        </p:spPr>
      </p:sp>
      <p:sp>
        <p:nvSpPr>
          <p:cNvPr id="5" name="Text 3"/>
          <p:cNvSpPr/>
          <p:nvPr/>
        </p:nvSpPr>
        <p:spPr>
          <a:xfrm>
            <a:off x="822960" y="2057400"/>
            <a:ext cx="2971800" cy="914400"/>
          </a:xfrm>
          <a:prstGeom prst="rect">
            <a:avLst/>
          </a:prstGeom>
          <a:noFill/>
          <a:ln/>
        </p:spPr>
        <p:txBody>
          <a:bodyPr wrap="square" rtlCol="0" anchor="t"/>
          <a:lstStyle/>
          <a:p>
            <a:pPr indent="0" marL="0">
              <a:buNone/>
            </a:pPr>
            <a:r>
              <a:rPr lang="en-US" sz="1500" b="1" dirty="0">
                <a:solidFill>
                  <a:srgbClr val="16262E"/>
                </a:solidFill>
                <a:latin typeface="Calibri" pitchFamily="34" charset="0"/>
                <a:ea typeface="Calibri" pitchFamily="34" charset="-122"/>
                <a:cs typeface="Calibri" pitchFamily="34" charset="-120"/>
              </a:rPr>
              <a:t>Aislamiento lógico (multi-tenancy)</a:t>
            </a:r>
            <a:endParaRPr lang="en-US" sz="1500" dirty="0"/>
          </a:p>
        </p:txBody>
      </p:sp>
      <p:sp>
        <p:nvSpPr>
          <p:cNvPr id="6" name="Text 4"/>
          <p:cNvSpPr/>
          <p:nvPr/>
        </p:nvSpPr>
        <p:spPr>
          <a:xfrm>
            <a:off x="822960" y="3108960"/>
            <a:ext cx="2971800" cy="2651760"/>
          </a:xfrm>
          <a:prstGeom prst="rect">
            <a:avLst/>
          </a:prstGeom>
          <a:noFill/>
          <a:ln/>
        </p:spPr>
        <p:txBody>
          <a:bodyPr wrap="square" rtlCol="0" anchor="t"/>
          <a:lstStyle/>
          <a:p>
            <a:pPr indent="0" marL="0">
              <a:buNone/>
            </a:pPr>
            <a:r>
              <a:rPr lang="en-US" sz="1200" dirty="0">
                <a:solidFill>
                  <a:srgbClr val="1B2530"/>
                </a:solidFill>
                <a:latin typeface="Calibri" pitchFamily="34" charset="0"/>
                <a:ea typeface="Calibri" pitchFamily="34" charset="-122"/>
                <a:cs typeface="Calibri" pitchFamily="34" charset="-120"/>
              </a:rPr>
              <a:t>Namespaces y Network Policies aseguran que el tráfico de la Organización A no se cruce con el de la Organización B.</a:t>
            </a:r>
            <a:endParaRPr lang="en-US" sz="1200" dirty="0"/>
          </a:p>
        </p:txBody>
      </p:sp>
      <p:sp>
        <p:nvSpPr>
          <p:cNvPr id="7" name="Shape 5"/>
          <p:cNvSpPr/>
          <p:nvPr/>
        </p:nvSpPr>
        <p:spPr>
          <a:xfrm>
            <a:off x="4343400" y="1737360"/>
            <a:ext cx="3520440" cy="4206240"/>
          </a:xfrm>
          <a:prstGeom prst="roundRect">
            <a:avLst>
              <a:gd name="adj" fmla="val 2338"/>
            </a:avLst>
          </a:prstGeom>
          <a:solidFill>
            <a:srgbClr val="F4F7F6"/>
          </a:solidFill>
          <a:ln w="15875">
            <a:solidFill>
              <a:srgbClr val="FF6E52"/>
            </a:solidFill>
            <a:prstDash val="solid"/>
          </a:ln>
        </p:spPr>
      </p:sp>
      <p:sp>
        <p:nvSpPr>
          <p:cNvPr id="8" name="Text 6"/>
          <p:cNvSpPr/>
          <p:nvPr/>
        </p:nvSpPr>
        <p:spPr>
          <a:xfrm>
            <a:off x="4617720" y="2057400"/>
            <a:ext cx="2971800" cy="914400"/>
          </a:xfrm>
          <a:prstGeom prst="rect">
            <a:avLst/>
          </a:prstGeom>
          <a:noFill/>
          <a:ln/>
        </p:spPr>
        <p:txBody>
          <a:bodyPr wrap="square" rtlCol="0" anchor="t"/>
          <a:lstStyle/>
          <a:p>
            <a:pPr indent="0" marL="0">
              <a:buNone/>
            </a:pPr>
            <a:r>
              <a:rPr lang="en-US" sz="1500" b="1" dirty="0">
                <a:solidFill>
                  <a:srgbClr val="16262E"/>
                </a:solidFill>
                <a:latin typeface="Calibri" pitchFamily="34" charset="0"/>
                <a:ea typeface="Calibri" pitchFamily="34" charset="-122"/>
                <a:cs typeface="Calibri" pitchFamily="34" charset="-120"/>
              </a:rPr>
              <a:t>Service Mesh (Istio / Linkerd)</a:t>
            </a:r>
            <a:endParaRPr lang="en-US" sz="1500" dirty="0"/>
          </a:p>
        </p:txBody>
      </p:sp>
      <p:sp>
        <p:nvSpPr>
          <p:cNvPr id="9" name="Text 7"/>
          <p:cNvSpPr/>
          <p:nvPr/>
        </p:nvSpPr>
        <p:spPr>
          <a:xfrm>
            <a:off x="4617720" y="3108960"/>
            <a:ext cx="2971800" cy="2651760"/>
          </a:xfrm>
          <a:prstGeom prst="rect">
            <a:avLst/>
          </a:prstGeom>
          <a:noFill/>
          <a:ln/>
        </p:spPr>
        <p:txBody>
          <a:bodyPr wrap="square" rtlCol="0" anchor="t"/>
          <a:lstStyle/>
          <a:p>
            <a:pPr indent="0" marL="0">
              <a:buNone/>
            </a:pPr>
            <a:r>
              <a:rPr lang="en-US" sz="1200" dirty="0">
                <a:solidFill>
                  <a:srgbClr val="1B2530"/>
                </a:solidFill>
                <a:latin typeface="Calibri" pitchFamily="34" charset="0"/>
                <a:ea typeface="Calibri" pitchFamily="34" charset="-122"/>
                <a:cs typeface="Calibri" pitchFamily="34" charset="-120"/>
              </a:rPr>
              <a:t>Cifra automáticamente todas las comunicaciones (mTLS) entre microservicios, vital para el secreto de las comunicaciones inter-sectoriales.</a:t>
            </a:r>
            <a:endParaRPr lang="en-US" sz="1200" dirty="0"/>
          </a:p>
        </p:txBody>
      </p:sp>
      <p:sp>
        <p:nvSpPr>
          <p:cNvPr id="10" name="Shape 8"/>
          <p:cNvSpPr/>
          <p:nvPr/>
        </p:nvSpPr>
        <p:spPr>
          <a:xfrm>
            <a:off x="8138160" y="1737360"/>
            <a:ext cx="3520440" cy="4206240"/>
          </a:xfrm>
          <a:prstGeom prst="roundRect">
            <a:avLst>
              <a:gd name="adj" fmla="val 2338"/>
            </a:avLst>
          </a:prstGeom>
          <a:solidFill>
            <a:srgbClr val="F4F7F6"/>
          </a:solidFill>
          <a:ln w="15875">
            <a:solidFill>
              <a:srgbClr val="16262E"/>
            </a:solidFill>
            <a:prstDash val="solid"/>
          </a:ln>
        </p:spPr>
      </p:sp>
      <p:sp>
        <p:nvSpPr>
          <p:cNvPr id="11" name="Text 9"/>
          <p:cNvSpPr/>
          <p:nvPr/>
        </p:nvSpPr>
        <p:spPr>
          <a:xfrm>
            <a:off x="8412480" y="2057400"/>
            <a:ext cx="2971800" cy="914400"/>
          </a:xfrm>
          <a:prstGeom prst="rect">
            <a:avLst/>
          </a:prstGeom>
          <a:noFill/>
          <a:ln/>
        </p:spPr>
        <p:txBody>
          <a:bodyPr wrap="square" rtlCol="0" anchor="t"/>
          <a:lstStyle/>
          <a:p>
            <a:pPr indent="0" marL="0">
              <a:buNone/>
            </a:pPr>
            <a:r>
              <a:rPr lang="en-US" sz="1500" b="1" dirty="0">
                <a:solidFill>
                  <a:srgbClr val="16262E"/>
                </a:solidFill>
                <a:latin typeface="Calibri" pitchFamily="34" charset="0"/>
                <a:ea typeface="Calibri" pitchFamily="34" charset="-122"/>
                <a:cs typeface="Calibri" pitchFamily="34" charset="-120"/>
              </a:rPr>
              <a:t>API Gateways</a:t>
            </a:r>
            <a:endParaRPr lang="en-US" sz="1500" dirty="0"/>
          </a:p>
        </p:txBody>
      </p:sp>
      <p:sp>
        <p:nvSpPr>
          <p:cNvPr id="12" name="Text 10"/>
          <p:cNvSpPr/>
          <p:nvPr/>
        </p:nvSpPr>
        <p:spPr>
          <a:xfrm>
            <a:off x="8412480" y="3108960"/>
            <a:ext cx="2971800" cy="2651760"/>
          </a:xfrm>
          <a:prstGeom prst="rect">
            <a:avLst/>
          </a:prstGeom>
          <a:noFill/>
          <a:ln/>
        </p:spPr>
        <p:txBody>
          <a:bodyPr wrap="square" rtlCol="0" anchor="t"/>
          <a:lstStyle/>
          <a:p>
            <a:pPr indent="0" marL="0">
              <a:buNone/>
            </a:pPr>
            <a:r>
              <a:rPr lang="en-US" sz="1200" dirty="0">
                <a:solidFill>
                  <a:srgbClr val="1B2530"/>
                </a:solidFill>
                <a:latin typeface="Calibri" pitchFamily="34" charset="0"/>
                <a:ea typeface="Calibri" pitchFamily="34" charset="-122"/>
                <a:cs typeface="Calibri" pitchFamily="34" charset="-120"/>
              </a:rPr>
              <a:t>Actúan como el “guardia de frontera” de la organización, validando tokens (OAuth2) antes de permitir el acceso de un tercero.</a:t>
            </a:r>
            <a:endParaRPr lang="en-US" sz="1200" dirty="0"/>
          </a:p>
        </p:txBody>
      </p:sp>
      <p:sp>
        <p:nvSpPr>
          <p:cNvPr id="13" name="Text 11"/>
          <p:cNvSpPr/>
          <p:nvPr/>
        </p:nvSpPr>
        <p:spPr>
          <a:xfrm>
            <a:off x="457200" y="6537960"/>
            <a:ext cx="3657600" cy="274320"/>
          </a:xfrm>
          <a:prstGeom prst="rect">
            <a:avLst/>
          </a:prstGeom>
          <a:noFill/>
          <a:ln/>
        </p:spPr>
        <p:txBody>
          <a:bodyPr wrap="square" rtlCol="0" anchor="ctr"/>
          <a:lstStyle/>
          <a:p>
            <a:pPr indent="0" marL="0">
              <a:buNone/>
            </a:pPr>
            <a:r>
              <a:rPr lang="en-US" sz="900" dirty="0">
                <a:solidFill>
                  <a:srgbClr val="68767D"/>
                </a:solidFill>
                <a:latin typeface="Calibri" pitchFamily="34" charset="0"/>
                <a:ea typeface="Calibri" pitchFamily="34" charset="-122"/>
                <a:cs typeface="Calibri" pitchFamily="34" charset="-120"/>
              </a:rPr>
              <a:t>ISO/IEC 27010</a:t>
            </a:r>
            <a:endParaRPr lang="en-US" sz="900" dirty="0"/>
          </a:p>
        </p:txBody>
      </p:sp>
      <p:sp>
        <p:nvSpPr>
          <p:cNvPr id="14" name="Text 12"/>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8767D"/>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150" kern="0" dirty="0">
                <a:solidFill>
                  <a:srgbClr val="FF6E52"/>
                </a:solidFill>
                <a:latin typeface="Calibri" pitchFamily="34" charset="0"/>
                <a:ea typeface="Calibri" pitchFamily="34" charset="-122"/>
                <a:cs typeface="Calibri" pitchFamily="34" charset="-120"/>
              </a:rPr>
              <a:t>ARQUITECTURA MULTI-REGIÓN Y DISPONIBILIDAD</a:t>
            </a:r>
            <a:endParaRPr lang="en-US" sz="1300" dirty="0"/>
          </a:p>
        </p:txBody>
      </p:sp>
      <p:sp>
        <p:nvSpPr>
          <p:cNvPr id="3" name="Text 1"/>
          <p:cNvSpPr/>
          <p:nvPr/>
        </p:nvSpPr>
        <p:spPr>
          <a:xfrm>
            <a:off x="548640" y="713232"/>
            <a:ext cx="10789920" cy="548640"/>
          </a:xfrm>
          <a:prstGeom prst="rect">
            <a:avLst/>
          </a:prstGeom>
          <a:noFill/>
          <a:ln/>
        </p:spPr>
        <p:txBody>
          <a:bodyPr wrap="square" rtlCol="0" anchor="ctr"/>
          <a:lstStyle/>
          <a:p>
            <a:pPr indent="0" marL="0">
              <a:buNone/>
            </a:pPr>
            <a:r>
              <a:rPr lang="en-US" sz="2400" b="1" dirty="0">
                <a:solidFill>
                  <a:srgbClr val="16262E"/>
                </a:solidFill>
                <a:latin typeface="Calibri" pitchFamily="34" charset="0"/>
                <a:ea typeface="Calibri" pitchFamily="34" charset="-122"/>
                <a:cs typeface="Calibri" pitchFamily="34" charset="-120"/>
              </a:rPr>
              <a:t>Resiliencia ante desastres a gran escala</a:t>
            </a:r>
            <a:endParaRPr lang="en-US" sz="2400" dirty="0"/>
          </a:p>
        </p:txBody>
      </p:sp>
      <p:sp>
        <p:nvSpPr>
          <p:cNvPr id="4" name="Text 2"/>
          <p:cNvSpPr/>
          <p:nvPr/>
        </p:nvSpPr>
        <p:spPr>
          <a:xfrm>
            <a:off x="548640" y="1280160"/>
            <a:ext cx="10789920" cy="548640"/>
          </a:xfrm>
          <a:prstGeom prst="rect">
            <a:avLst/>
          </a:prstGeom>
          <a:noFill/>
          <a:ln/>
        </p:spPr>
        <p:txBody>
          <a:bodyPr wrap="square" rtlCol="0" anchor="ctr"/>
          <a:lstStyle/>
          <a:p>
            <a:pPr indent="0" marL="0">
              <a:buNone/>
            </a:pPr>
            <a:r>
              <a:rPr lang="en-US" sz="1300" i="1" dirty="0">
                <a:solidFill>
                  <a:srgbClr val="68767D"/>
                </a:solidFill>
                <a:latin typeface="Calibri" pitchFamily="34" charset="0"/>
                <a:ea typeface="Calibri" pitchFamily="34" charset="-122"/>
                <a:cs typeface="Calibri" pitchFamily="34" charset="-120"/>
              </a:rPr>
              <a:t>Mandato de la ISO 27010: garantizar que la información de infraestructura crítica esté disponible incluso en situaciones de crisis regional.</a:t>
            </a:r>
            <a:endParaRPr lang="en-US" sz="1300" dirty="0"/>
          </a:p>
        </p:txBody>
      </p:sp>
      <p:sp>
        <p:nvSpPr>
          <p:cNvPr id="5" name="Shape 3"/>
          <p:cNvSpPr/>
          <p:nvPr/>
        </p:nvSpPr>
        <p:spPr>
          <a:xfrm>
            <a:off x="548640" y="2103120"/>
            <a:ext cx="10789920" cy="1143000"/>
          </a:xfrm>
          <a:prstGeom prst="roundRect">
            <a:avLst>
              <a:gd name="adj" fmla="val 6400"/>
            </a:avLst>
          </a:prstGeom>
          <a:solidFill>
            <a:srgbClr val="FFFFFF"/>
          </a:solidFill>
          <a:ln/>
          <a:effectLst>
            <a:outerShdw sx="100000" sy="100000" kx="0" ky="0" algn="bl" rotWithShape="0" blurRad="101600" dist="38100" dir="5400000">
              <a:srgbClr val="1B2530">
                <a:alpha val="10000"/>
              </a:srgbClr>
            </a:outerShdw>
          </a:effectLst>
        </p:spPr>
      </p:sp>
      <p:sp>
        <p:nvSpPr>
          <p:cNvPr id="6" name="Shape 4"/>
          <p:cNvSpPr/>
          <p:nvPr/>
        </p:nvSpPr>
        <p:spPr>
          <a:xfrm>
            <a:off x="822960" y="2377440"/>
            <a:ext cx="594360" cy="594360"/>
          </a:xfrm>
          <a:prstGeom prst="ellipse">
            <a:avLst/>
          </a:prstGeom>
          <a:solidFill>
            <a:srgbClr val="35C88A"/>
          </a:solidFill>
          <a:ln/>
        </p:spPr>
      </p:sp>
      <p:sp>
        <p:nvSpPr>
          <p:cNvPr id="7" name="Text 5"/>
          <p:cNvSpPr/>
          <p:nvPr/>
        </p:nvSpPr>
        <p:spPr>
          <a:xfrm>
            <a:off x="822960" y="2377440"/>
            <a:ext cx="594360" cy="5943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691640" y="2249424"/>
            <a:ext cx="9418320" cy="365760"/>
          </a:xfrm>
          <a:prstGeom prst="rect">
            <a:avLst/>
          </a:prstGeom>
          <a:noFill/>
          <a:ln/>
        </p:spPr>
        <p:txBody>
          <a:bodyPr wrap="square" rtlCol="0" anchor="ctr"/>
          <a:lstStyle/>
          <a:p>
            <a:pPr indent="0" marL="0">
              <a:buNone/>
            </a:pPr>
            <a:r>
              <a:rPr lang="en-US" sz="1500" b="1" dirty="0">
                <a:solidFill>
                  <a:srgbClr val="16262E"/>
                </a:solidFill>
                <a:latin typeface="Calibri" pitchFamily="34" charset="0"/>
                <a:ea typeface="Calibri" pitchFamily="34" charset="-122"/>
                <a:cs typeface="Calibri" pitchFamily="34" charset="-120"/>
              </a:rPr>
              <a:t>Multi-región</a:t>
            </a:r>
            <a:endParaRPr lang="en-US" sz="1500" dirty="0"/>
          </a:p>
        </p:txBody>
      </p:sp>
      <p:sp>
        <p:nvSpPr>
          <p:cNvPr id="9" name="Text 7"/>
          <p:cNvSpPr/>
          <p:nvPr/>
        </p:nvSpPr>
        <p:spPr>
          <a:xfrm>
            <a:off x="1691640" y="2606040"/>
            <a:ext cx="9418320" cy="548640"/>
          </a:xfrm>
          <a:prstGeom prst="rect">
            <a:avLst/>
          </a:prstGeom>
          <a:noFill/>
          <a:ln/>
        </p:spPr>
        <p:txBody>
          <a:bodyPr wrap="square"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Desplegar clústeres activos en distintas zonas geográficas (ej. US-East y Europe-West).</a:t>
            </a:r>
            <a:endParaRPr lang="en-US" sz="1200" dirty="0"/>
          </a:p>
        </p:txBody>
      </p:sp>
      <p:sp>
        <p:nvSpPr>
          <p:cNvPr id="10" name="Shape 8"/>
          <p:cNvSpPr/>
          <p:nvPr/>
        </p:nvSpPr>
        <p:spPr>
          <a:xfrm>
            <a:off x="548640" y="3401568"/>
            <a:ext cx="10789920" cy="1143000"/>
          </a:xfrm>
          <a:prstGeom prst="roundRect">
            <a:avLst>
              <a:gd name="adj" fmla="val 6400"/>
            </a:avLst>
          </a:prstGeom>
          <a:solidFill>
            <a:srgbClr val="FFFFFF"/>
          </a:solidFill>
          <a:ln/>
          <a:effectLst>
            <a:outerShdw sx="100000" sy="100000" kx="0" ky="0" algn="bl" rotWithShape="0" blurRad="101600" dist="38100" dir="5400000">
              <a:srgbClr val="1B2530">
                <a:alpha val="10000"/>
              </a:srgbClr>
            </a:outerShdw>
          </a:effectLst>
        </p:spPr>
      </p:sp>
      <p:sp>
        <p:nvSpPr>
          <p:cNvPr id="11" name="Shape 9"/>
          <p:cNvSpPr/>
          <p:nvPr/>
        </p:nvSpPr>
        <p:spPr>
          <a:xfrm>
            <a:off x="822960" y="3675888"/>
            <a:ext cx="594360" cy="594360"/>
          </a:xfrm>
          <a:prstGeom prst="ellipse">
            <a:avLst/>
          </a:prstGeom>
          <a:solidFill>
            <a:srgbClr val="FF6E52"/>
          </a:solidFill>
          <a:ln/>
        </p:spPr>
      </p:sp>
      <p:sp>
        <p:nvSpPr>
          <p:cNvPr id="12" name="Text 10"/>
          <p:cNvSpPr/>
          <p:nvPr/>
        </p:nvSpPr>
        <p:spPr>
          <a:xfrm>
            <a:off x="822960" y="3675888"/>
            <a:ext cx="594360" cy="5943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1691640" y="3547872"/>
            <a:ext cx="9418320" cy="365760"/>
          </a:xfrm>
          <a:prstGeom prst="rect">
            <a:avLst/>
          </a:prstGeom>
          <a:noFill/>
          <a:ln/>
        </p:spPr>
        <p:txBody>
          <a:bodyPr wrap="square" rtlCol="0" anchor="ctr"/>
          <a:lstStyle/>
          <a:p>
            <a:pPr indent="0" marL="0">
              <a:buNone/>
            </a:pPr>
            <a:r>
              <a:rPr lang="en-US" sz="1500" b="1" dirty="0">
                <a:solidFill>
                  <a:srgbClr val="16262E"/>
                </a:solidFill>
                <a:latin typeface="Calibri" pitchFamily="34" charset="0"/>
                <a:ea typeface="Calibri" pitchFamily="34" charset="-122"/>
                <a:cs typeface="Calibri" pitchFamily="34" charset="-120"/>
              </a:rPr>
              <a:t>Bases de datos distribuidas</a:t>
            </a:r>
            <a:endParaRPr lang="en-US" sz="1500" dirty="0"/>
          </a:p>
        </p:txBody>
      </p:sp>
      <p:sp>
        <p:nvSpPr>
          <p:cNvPr id="14" name="Text 12"/>
          <p:cNvSpPr/>
          <p:nvPr/>
        </p:nvSpPr>
        <p:spPr>
          <a:xfrm>
            <a:off x="1691640" y="3904488"/>
            <a:ext cx="9418320" cy="548640"/>
          </a:xfrm>
          <a:prstGeom prst="rect">
            <a:avLst/>
          </a:prstGeom>
          <a:noFill/>
          <a:ln/>
        </p:spPr>
        <p:txBody>
          <a:bodyPr wrap="square"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CockroachDB o Amazon Aurora Global replican la información entre continentes con latencia mínima.</a:t>
            </a:r>
            <a:endParaRPr lang="en-US" sz="1200" dirty="0"/>
          </a:p>
        </p:txBody>
      </p:sp>
      <p:sp>
        <p:nvSpPr>
          <p:cNvPr id="15" name="Shape 13"/>
          <p:cNvSpPr/>
          <p:nvPr/>
        </p:nvSpPr>
        <p:spPr>
          <a:xfrm>
            <a:off x="548640" y="4700016"/>
            <a:ext cx="10789920" cy="1143000"/>
          </a:xfrm>
          <a:prstGeom prst="roundRect">
            <a:avLst>
              <a:gd name="adj" fmla="val 6400"/>
            </a:avLst>
          </a:prstGeom>
          <a:solidFill>
            <a:srgbClr val="FFFFFF"/>
          </a:solidFill>
          <a:ln/>
          <a:effectLst>
            <a:outerShdw sx="100000" sy="100000" kx="0" ky="0" algn="bl" rotWithShape="0" blurRad="101600" dist="38100" dir="5400000">
              <a:srgbClr val="1B2530">
                <a:alpha val="10000"/>
              </a:srgbClr>
            </a:outerShdw>
          </a:effectLst>
        </p:spPr>
      </p:sp>
      <p:sp>
        <p:nvSpPr>
          <p:cNvPr id="16" name="Shape 14"/>
          <p:cNvSpPr/>
          <p:nvPr/>
        </p:nvSpPr>
        <p:spPr>
          <a:xfrm>
            <a:off x="822960" y="4974336"/>
            <a:ext cx="594360" cy="594360"/>
          </a:xfrm>
          <a:prstGeom prst="ellipse">
            <a:avLst/>
          </a:prstGeom>
          <a:solidFill>
            <a:srgbClr val="16262E"/>
          </a:solidFill>
          <a:ln/>
        </p:spPr>
      </p:sp>
      <p:sp>
        <p:nvSpPr>
          <p:cNvPr id="17" name="Text 15"/>
          <p:cNvSpPr/>
          <p:nvPr/>
        </p:nvSpPr>
        <p:spPr>
          <a:xfrm>
            <a:off x="822960" y="4974336"/>
            <a:ext cx="594360" cy="59436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6"/>
          <p:cNvSpPr/>
          <p:nvPr/>
        </p:nvSpPr>
        <p:spPr>
          <a:xfrm>
            <a:off x="1691640" y="4846320"/>
            <a:ext cx="9418320" cy="365760"/>
          </a:xfrm>
          <a:prstGeom prst="rect">
            <a:avLst/>
          </a:prstGeom>
          <a:noFill/>
          <a:ln/>
        </p:spPr>
        <p:txBody>
          <a:bodyPr wrap="square" rtlCol="0" anchor="ctr"/>
          <a:lstStyle/>
          <a:p>
            <a:pPr indent="0" marL="0">
              <a:buNone/>
            </a:pPr>
            <a:r>
              <a:rPr lang="en-US" sz="1500" b="1" dirty="0">
                <a:solidFill>
                  <a:srgbClr val="16262E"/>
                </a:solidFill>
                <a:latin typeface="Calibri" pitchFamily="34" charset="0"/>
                <a:ea typeface="Calibri" pitchFamily="34" charset="-122"/>
                <a:cs typeface="Calibri" pitchFamily="34" charset="-120"/>
              </a:rPr>
              <a:t>DNS inteligente y failover</a:t>
            </a:r>
            <a:endParaRPr lang="en-US" sz="1500" dirty="0"/>
          </a:p>
        </p:txBody>
      </p:sp>
      <p:sp>
        <p:nvSpPr>
          <p:cNvPr id="19" name="Text 17"/>
          <p:cNvSpPr/>
          <p:nvPr/>
        </p:nvSpPr>
        <p:spPr>
          <a:xfrm>
            <a:off x="1691640" y="5202936"/>
            <a:ext cx="9418320" cy="548640"/>
          </a:xfrm>
          <a:prstGeom prst="rect">
            <a:avLst/>
          </a:prstGeom>
          <a:noFill/>
          <a:ln/>
        </p:spPr>
        <p:txBody>
          <a:bodyPr wrap="square"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Si un centro de datos regional de una organización asociada cae, el tráfico se redirige automáticamente.</a:t>
            </a:r>
            <a:endParaRPr lang="en-US" sz="1200" dirty="0"/>
          </a:p>
        </p:txBody>
      </p:sp>
      <p:sp>
        <p:nvSpPr>
          <p:cNvPr id="20" name="Text 18"/>
          <p:cNvSpPr/>
          <p:nvPr/>
        </p:nvSpPr>
        <p:spPr>
          <a:xfrm>
            <a:off x="457200" y="6537960"/>
            <a:ext cx="3657600" cy="274320"/>
          </a:xfrm>
          <a:prstGeom prst="rect">
            <a:avLst/>
          </a:prstGeom>
          <a:noFill/>
          <a:ln/>
        </p:spPr>
        <p:txBody>
          <a:bodyPr wrap="square" rtlCol="0" anchor="ctr"/>
          <a:lstStyle/>
          <a:p>
            <a:pPr indent="0" marL="0">
              <a:buNone/>
            </a:pPr>
            <a:r>
              <a:rPr lang="en-US" sz="900" dirty="0">
                <a:solidFill>
                  <a:srgbClr val="68767D"/>
                </a:solidFill>
                <a:latin typeface="Calibri" pitchFamily="34" charset="0"/>
                <a:ea typeface="Calibri" pitchFamily="34" charset="-122"/>
                <a:cs typeface="Calibri" pitchFamily="34" charset="-120"/>
              </a:rPr>
              <a:t>ISO/IEC 27010</a:t>
            </a:r>
            <a:endParaRPr lang="en-US" sz="900" dirty="0"/>
          </a:p>
        </p:txBody>
      </p:sp>
      <p:sp>
        <p:nvSpPr>
          <p:cNvPr id="21" name="Text 19"/>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8767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62E"/>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150" kern="0" dirty="0">
                <a:solidFill>
                  <a:srgbClr val="35C88A"/>
                </a:solidFill>
                <a:latin typeface="Calibri" pitchFamily="34" charset="0"/>
                <a:ea typeface="Calibri" pitchFamily="34" charset="-122"/>
                <a:cs typeface="Calibri" pitchFamily="34" charset="-120"/>
              </a:rPr>
              <a:t>INFRAESTRUCTURA COMO CÓDIGO (IaC)</a:t>
            </a:r>
            <a:endParaRPr lang="en-US" sz="1300" dirty="0"/>
          </a:p>
        </p:txBody>
      </p:sp>
      <p:sp>
        <p:nvSpPr>
          <p:cNvPr id="3" name="Text 1"/>
          <p:cNvSpPr/>
          <p:nvPr/>
        </p:nvSpPr>
        <p:spPr>
          <a:xfrm>
            <a:off x="548640" y="713232"/>
            <a:ext cx="10789920" cy="54864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Automatizando el cumplimiento y la seguridad</a:t>
            </a:r>
            <a:endParaRPr lang="en-US" sz="2400" dirty="0"/>
          </a:p>
        </p:txBody>
      </p:sp>
      <p:sp>
        <p:nvSpPr>
          <p:cNvPr id="4" name="Shape 2"/>
          <p:cNvSpPr/>
          <p:nvPr/>
        </p:nvSpPr>
        <p:spPr>
          <a:xfrm>
            <a:off x="548640" y="1600200"/>
            <a:ext cx="5120640" cy="1188720"/>
          </a:xfrm>
          <a:prstGeom prst="roundRect">
            <a:avLst>
              <a:gd name="adj" fmla="val 6154"/>
            </a:avLst>
          </a:prstGeom>
          <a:solidFill>
            <a:srgbClr val="0E1A20"/>
          </a:solidFill>
          <a:ln w="12700">
            <a:solidFill>
              <a:srgbClr val="FF6E52"/>
            </a:solidFill>
            <a:prstDash val="solid"/>
          </a:ln>
        </p:spPr>
      </p:sp>
      <p:sp>
        <p:nvSpPr>
          <p:cNvPr id="5" name="Text 3"/>
          <p:cNvSpPr/>
          <p:nvPr/>
        </p:nvSpPr>
        <p:spPr>
          <a:xfrm>
            <a:off x="822960" y="1737360"/>
            <a:ext cx="4572000" cy="365760"/>
          </a:xfrm>
          <a:prstGeom prst="rect">
            <a:avLst/>
          </a:prstGeom>
          <a:noFill/>
          <a:ln/>
        </p:spPr>
        <p:txBody>
          <a:bodyPr wrap="square" rtlCol="0" anchor="ctr"/>
          <a:lstStyle/>
          <a:p>
            <a:pPr indent="0" marL="0">
              <a:buNone/>
            </a:pPr>
            <a:r>
              <a:rPr lang="en-US" sz="1400" b="1" dirty="0">
                <a:solidFill>
                  <a:srgbClr val="FF6E52"/>
                </a:solidFill>
                <a:latin typeface="Calibri" pitchFamily="34" charset="0"/>
                <a:ea typeface="Calibri" pitchFamily="34" charset="-122"/>
                <a:cs typeface="Calibri" pitchFamily="34" charset="-120"/>
              </a:rPr>
              <a:t>El problema</a:t>
            </a:r>
            <a:endParaRPr lang="en-US" sz="1400" dirty="0"/>
          </a:p>
        </p:txBody>
      </p:sp>
      <p:sp>
        <p:nvSpPr>
          <p:cNvPr id="6" name="Text 4"/>
          <p:cNvSpPr/>
          <p:nvPr/>
        </p:nvSpPr>
        <p:spPr>
          <a:xfrm>
            <a:off x="822960" y="2103120"/>
            <a:ext cx="4572000" cy="640080"/>
          </a:xfrm>
          <a:prstGeom prst="rect">
            <a:avLst/>
          </a:prstGeom>
          <a:noFill/>
          <a:ln/>
        </p:spPr>
        <p:txBody>
          <a:bodyPr wrap="square" rtlCol="0" anchor="ctr"/>
          <a:lstStyle/>
          <a:p>
            <a:pPr indent="0" marL="0">
              <a:buNone/>
            </a:pPr>
            <a:r>
              <a:rPr lang="en-US" sz="1150" dirty="0">
                <a:solidFill>
                  <a:srgbClr val="D7E0E3"/>
                </a:solidFill>
                <a:latin typeface="Calibri" pitchFamily="34" charset="0"/>
                <a:ea typeface="Calibri" pitchFamily="34" charset="-122"/>
                <a:cs typeface="Calibri" pitchFamily="34" charset="-120"/>
              </a:rPr>
              <a:t>Configurar servidores manualmente a través de varias organizaciones genera brechas de seguridad (errores humanos).</a:t>
            </a:r>
            <a:endParaRPr lang="en-US" sz="1150" dirty="0"/>
          </a:p>
        </p:txBody>
      </p:sp>
      <p:sp>
        <p:nvSpPr>
          <p:cNvPr id="7" name="Shape 5"/>
          <p:cNvSpPr/>
          <p:nvPr/>
        </p:nvSpPr>
        <p:spPr>
          <a:xfrm>
            <a:off x="5852160" y="1600200"/>
            <a:ext cx="5760720" cy="1188720"/>
          </a:xfrm>
          <a:prstGeom prst="roundRect">
            <a:avLst>
              <a:gd name="adj" fmla="val 6154"/>
            </a:avLst>
          </a:prstGeom>
          <a:solidFill>
            <a:srgbClr val="0E1A20"/>
          </a:solidFill>
          <a:ln w="12700">
            <a:solidFill>
              <a:srgbClr val="35C88A"/>
            </a:solidFill>
            <a:prstDash val="solid"/>
          </a:ln>
        </p:spPr>
      </p:sp>
      <p:sp>
        <p:nvSpPr>
          <p:cNvPr id="8" name="Text 6"/>
          <p:cNvSpPr/>
          <p:nvPr/>
        </p:nvSpPr>
        <p:spPr>
          <a:xfrm>
            <a:off x="6126480" y="1737360"/>
            <a:ext cx="5303520" cy="365760"/>
          </a:xfrm>
          <a:prstGeom prst="rect">
            <a:avLst/>
          </a:prstGeom>
          <a:noFill/>
          <a:ln/>
        </p:spPr>
        <p:txBody>
          <a:bodyPr wrap="square" rtlCol="0" anchor="ctr"/>
          <a:lstStyle/>
          <a:p>
            <a:pPr indent="0" marL="0">
              <a:buNone/>
            </a:pPr>
            <a:r>
              <a:rPr lang="en-US" sz="1400" b="1" dirty="0">
                <a:solidFill>
                  <a:srgbClr val="35C88A"/>
                </a:solidFill>
                <a:latin typeface="Calibri" pitchFamily="34" charset="0"/>
                <a:ea typeface="Calibri" pitchFamily="34" charset="-122"/>
                <a:cs typeface="Calibri" pitchFamily="34" charset="-120"/>
              </a:rPr>
              <a:t>La solución — Terraform / Ansible</a:t>
            </a:r>
            <a:endParaRPr lang="en-US" sz="1400" dirty="0"/>
          </a:p>
        </p:txBody>
      </p:sp>
      <p:sp>
        <p:nvSpPr>
          <p:cNvPr id="9" name="Text 7"/>
          <p:cNvSpPr/>
          <p:nvPr/>
        </p:nvSpPr>
        <p:spPr>
          <a:xfrm>
            <a:off x="6126480" y="2103120"/>
            <a:ext cx="5303520" cy="640080"/>
          </a:xfrm>
          <a:prstGeom prst="rect">
            <a:avLst/>
          </a:prstGeom>
          <a:noFill/>
          <a:ln/>
        </p:spPr>
        <p:txBody>
          <a:bodyPr wrap="square" rtlCol="0" anchor="ctr"/>
          <a:lstStyle/>
          <a:p>
            <a:pPr indent="0" marL="0">
              <a:buNone/>
            </a:pPr>
            <a:r>
              <a:rPr lang="en-US" sz="1150" dirty="0">
                <a:solidFill>
                  <a:srgbClr val="D7E0E3"/>
                </a:solidFill>
                <a:latin typeface="Calibri" pitchFamily="34" charset="0"/>
                <a:ea typeface="Calibri" pitchFamily="34" charset="-122"/>
                <a:cs typeface="Calibri" pitchFamily="34" charset="-120"/>
              </a:rPr>
              <a:t>Escribir la infraestructura en código.</a:t>
            </a:r>
            <a:endParaRPr lang="en-US" sz="1150" dirty="0"/>
          </a:p>
        </p:txBody>
      </p:sp>
      <p:sp>
        <p:nvSpPr>
          <p:cNvPr id="10" name="Shape 8"/>
          <p:cNvSpPr/>
          <p:nvPr/>
        </p:nvSpPr>
        <p:spPr>
          <a:xfrm>
            <a:off x="548640" y="3108960"/>
            <a:ext cx="3520440" cy="2834640"/>
          </a:xfrm>
          <a:prstGeom prst="roundRect">
            <a:avLst>
              <a:gd name="adj" fmla="val 2903"/>
            </a:avLst>
          </a:prstGeom>
          <a:solidFill>
            <a:srgbClr val="0E1A20"/>
          </a:solidFill>
          <a:ln w="12700">
            <a:solidFill>
              <a:srgbClr val="2E4048"/>
            </a:solidFill>
            <a:prstDash val="solid"/>
          </a:ln>
        </p:spPr>
      </p:sp>
      <p:sp>
        <p:nvSpPr>
          <p:cNvPr id="11" name="Text 9"/>
          <p:cNvSpPr/>
          <p:nvPr/>
        </p:nvSpPr>
        <p:spPr>
          <a:xfrm>
            <a:off x="822960" y="3383280"/>
            <a:ext cx="2971800" cy="50292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Trazabilidad</a:t>
            </a:r>
            <a:endParaRPr lang="en-US" sz="1450" dirty="0"/>
          </a:p>
        </p:txBody>
      </p:sp>
      <p:sp>
        <p:nvSpPr>
          <p:cNvPr id="12" name="Text 10"/>
          <p:cNvSpPr/>
          <p:nvPr/>
        </p:nvSpPr>
        <p:spPr>
          <a:xfrm>
            <a:off x="822960" y="3931920"/>
            <a:ext cx="2971800" cy="1828800"/>
          </a:xfrm>
          <a:prstGeom prst="rect">
            <a:avLst/>
          </a:prstGeom>
          <a:noFill/>
          <a:ln/>
        </p:spPr>
        <p:txBody>
          <a:bodyPr wrap="square" rtlCol="0" anchor="t"/>
          <a:lstStyle/>
          <a:p>
            <a:pPr indent="0" marL="0">
              <a:buNone/>
            </a:pPr>
            <a:r>
              <a:rPr lang="en-US" sz="1150" dirty="0">
                <a:solidFill>
                  <a:srgbClr val="A9B7BC"/>
                </a:solidFill>
                <a:latin typeface="Calibri" pitchFamily="34" charset="0"/>
                <a:ea typeface="Calibri" pitchFamily="34" charset="-122"/>
                <a:cs typeface="Calibri" pitchFamily="34" charset="-120"/>
              </a:rPr>
              <a:t>Cada cambio en el firewall o la base de datos queda registrado en un repositorio Git (GitOps).</a:t>
            </a:r>
            <a:endParaRPr lang="en-US" sz="1150" dirty="0"/>
          </a:p>
        </p:txBody>
      </p:sp>
      <p:sp>
        <p:nvSpPr>
          <p:cNvPr id="13" name="Shape 11"/>
          <p:cNvSpPr/>
          <p:nvPr/>
        </p:nvSpPr>
        <p:spPr>
          <a:xfrm>
            <a:off x="4343400" y="3108960"/>
            <a:ext cx="3520440" cy="2834640"/>
          </a:xfrm>
          <a:prstGeom prst="roundRect">
            <a:avLst>
              <a:gd name="adj" fmla="val 2903"/>
            </a:avLst>
          </a:prstGeom>
          <a:solidFill>
            <a:srgbClr val="0E1A20"/>
          </a:solidFill>
          <a:ln w="12700">
            <a:solidFill>
              <a:srgbClr val="2E4048"/>
            </a:solidFill>
            <a:prstDash val="solid"/>
          </a:ln>
        </p:spPr>
      </p:sp>
      <p:sp>
        <p:nvSpPr>
          <p:cNvPr id="14" name="Text 12"/>
          <p:cNvSpPr/>
          <p:nvPr/>
        </p:nvSpPr>
        <p:spPr>
          <a:xfrm>
            <a:off x="4617720" y="3383280"/>
            <a:ext cx="2971800" cy="50292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Auditoría simplificada</a:t>
            </a:r>
            <a:endParaRPr lang="en-US" sz="1450" dirty="0"/>
          </a:p>
        </p:txBody>
      </p:sp>
      <p:sp>
        <p:nvSpPr>
          <p:cNvPr id="15" name="Text 13"/>
          <p:cNvSpPr/>
          <p:nvPr/>
        </p:nvSpPr>
        <p:spPr>
          <a:xfrm>
            <a:off x="4617720" y="3931920"/>
            <a:ext cx="2971800" cy="1828800"/>
          </a:xfrm>
          <a:prstGeom prst="rect">
            <a:avLst/>
          </a:prstGeom>
          <a:noFill/>
          <a:ln/>
        </p:spPr>
        <p:txBody>
          <a:bodyPr wrap="square" rtlCol="0" anchor="t"/>
          <a:lstStyle/>
          <a:p>
            <a:pPr indent="0" marL="0">
              <a:buNone/>
            </a:pPr>
            <a:r>
              <a:rPr lang="en-US" sz="1150" dirty="0">
                <a:solidFill>
                  <a:srgbClr val="A9B7BC"/>
                </a:solidFill>
                <a:latin typeface="Calibri" pitchFamily="34" charset="0"/>
                <a:ea typeface="Calibri" pitchFamily="34" charset="-122"/>
                <a:cs typeface="Calibri" pitchFamily="34" charset="-120"/>
              </a:rPr>
              <a:t>Para demostrar a un socio o ente regulador que la infraestructura es segura, basta mostrar el código IaC validado.</a:t>
            </a:r>
            <a:endParaRPr lang="en-US" sz="1150" dirty="0"/>
          </a:p>
        </p:txBody>
      </p:sp>
      <p:sp>
        <p:nvSpPr>
          <p:cNvPr id="16" name="Shape 14"/>
          <p:cNvSpPr/>
          <p:nvPr/>
        </p:nvSpPr>
        <p:spPr>
          <a:xfrm>
            <a:off x="8138160" y="3108960"/>
            <a:ext cx="3520440" cy="2834640"/>
          </a:xfrm>
          <a:prstGeom prst="roundRect">
            <a:avLst>
              <a:gd name="adj" fmla="val 2903"/>
            </a:avLst>
          </a:prstGeom>
          <a:solidFill>
            <a:srgbClr val="0E1A20"/>
          </a:solidFill>
          <a:ln w="12700">
            <a:solidFill>
              <a:srgbClr val="2E4048"/>
            </a:solidFill>
            <a:prstDash val="solid"/>
          </a:ln>
        </p:spPr>
      </p:sp>
      <p:sp>
        <p:nvSpPr>
          <p:cNvPr id="17" name="Text 15"/>
          <p:cNvSpPr/>
          <p:nvPr/>
        </p:nvSpPr>
        <p:spPr>
          <a:xfrm>
            <a:off x="8412480" y="3383280"/>
            <a:ext cx="2971800" cy="50292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Recuperación inmediata</a:t>
            </a:r>
            <a:endParaRPr lang="en-US" sz="1450" dirty="0"/>
          </a:p>
        </p:txBody>
      </p:sp>
      <p:sp>
        <p:nvSpPr>
          <p:cNvPr id="18" name="Text 16"/>
          <p:cNvSpPr/>
          <p:nvPr/>
        </p:nvSpPr>
        <p:spPr>
          <a:xfrm>
            <a:off x="8412480" y="3931920"/>
            <a:ext cx="2971800" cy="1828800"/>
          </a:xfrm>
          <a:prstGeom prst="rect">
            <a:avLst/>
          </a:prstGeom>
          <a:noFill/>
          <a:ln/>
        </p:spPr>
        <p:txBody>
          <a:bodyPr wrap="square" rtlCol="0" anchor="t"/>
          <a:lstStyle/>
          <a:p>
            <a:pPr indent="0" marL="0">
              <a:buNone/>
            </a:pPr>
            <a:r>
              <a:rPr lang="en-US" sz="1150" dirty="0">
                <a:solidFill>
                  <a:srgbClr val="A9B7BC"/>
                </a:solidFill>
                <a:latin typeface="Calibri" pitchFamily="34" charset="0"/>
                <a:ea typeface="Calibri" pitchFamily="34" charset="-122"/>
                <a:cs typeface="Calibri" pitchFamily="34" charset="-120"/>
              </a:rPr>
              <a:t>Si un entorno es comprometido, IaC permite “destruir y reconstruir” infraestructura idéntica y limpia en minutos.</a:t>
            </a:r>
            <a:endParaRPr lang="en-US" sz="1150" dirty="0"/>
          </a:p>
        </p:txBody>
      </p:sp>
      <p:sp>
        <p:nvSpPr>
          <p:cNvPr id="19" name="Text 17"/>
          <p:cNvSpPr/>
          <p:nvPr/>
        </p:nvSpPr>
        <p:spPr>
          <a:xfrm>
            <a:off x="457200" y="6537960"/>
            <a:ext cx="3657600" cy="274320"/>
          </a:xfrm>
          <a:prstGeom prst="rect">
            <a:avLst/>
          </a:prstGeom>
          <a:noFill/>
          <a:ln/>
        </p:spPr>
        <p:txBody>
          <a:bodyPr wrap="square" rtlCol="0" anchor="ctr"/>
          <a:lstStyle/>
          <a:p>
            <a:pPr indent="0" marL="0">
              <a:buNone/>
            </a:pPr>
            <a:r>
              <a:rPr lang="en-US" sz="900" dirty="0">
                <a:solidFill>
                  <a:srgbClr val="68767D"/>
                </a:solidFill>
                <a:latin typeface="Calibri" pitchFamily="34" charset="0"/>
                <a:ea typeface="Calibri" pitchFamily="34" charset="-122"/>
                <a:cs typeface="Calibri" pitchFamily="34" charset="-120"/>
              </a:rPr>
              <a:t>ISO/IEC 27010</a:t>
            </a:r>
            <a:endParaRPr lang="en-US" sz="900" dirty="0"/>
          </a:p>
        </p:txBody>
      </p:sp>
      <p:sp>
        <p:nvSpPr>
          <p:cNvPr id="20" name="Text 18"/>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8767D"/>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150" kern="0" dirty="0">
                <a:solidFill>
                  <a:srgbClr val="FF6E52"/>
                </a:solidFill>
                <a:latin typeface="Calibri" pitchFamily="34" charset="0"/>
                <a:ea typeface="Calibri" pitchFamily="34" charset="-122"/>
                <a:cs typeface="Calibri" pitchFamily="34" charset="-120"/>
              </a:rPr>
              <a:t>ESCALABILIDAD SEGURA</a:t>
            </a:r>
            <a:endParaRPr lang="en-US" sz="1300" dirty="0"/>
          </a:p>
        </p:txBody>
      </p:sp>
      <p:sp>
        <p:nvSpPr>
          <p:cNvPr id="3" name="Text 1"/>
          <p:cNvSpPr/>
          <p:nvPr/>
        </p:nvSpPr>
        <p:spPr>
          <a:xfrm>
            <a:off x="548640" y="713232"/>
            <a:ext cx="10789920" cy="548640"/>
          </a:xfrm>
          <a:prstGeom prst="rect">
            <a:avLst/>
          </a:prstGeom>
          <a:noFill/>
          <a:ln/>
        </p:spPr>
        <p:txBody>
          <a:bodyPr wrap="square" rtlCol="0" anchor="ctr"/>
          <a:lstStyle/>
          <a:p>
            <a:pPr indent="0" marL="0">
              <a:buNone/>
            </a:pPr>
            <a:r>
              <a:rPr lang="en-US" sz="2400" b="1" dirty="0">
                <a:solidFill>
                  <a:srgbClr val="16262E"/>
                </a:solidFill>
                <a:latin typeface="Calibri" pitchFamily="34" charset="0"/>
                <a:ea typeface="Calibri" pitchFamily="34" charset="-122"/>
                <a:cs typeface="Calibri" pitchFamily="34" charset="-120"/>
              </a:rPr>
              <a:t>Elasticidad sin perder el control</a:t>
            </a:r>
            <a:endParaRPr lang="en-US" sz="2400" dirty="0"/>
          </a:p>
        </p:txBody>
      </p:sp>
      <p:sp>
        <p:nvSpPr>
          <p:cNvPr id="4" name="Text 2"/>
          <p:cNvSpPr/>
          <p:nvPr/>
        </p:nvSpPr>
        <p:spPr>
          <a:xfrm>
            <a:off x="548640" y="1280160"/>
            <a:ext cx="10789920" cy="457200"/>
          </a:xfrm>
          <a:prstGeom prst="rect">
            <a:avLst/>
          </a:prstGeom>
          <a:noFill/>
          <a:ln/>
        </p:spPr>
        <p:txBody>
          <a:bodyPr wrap="square" rtlCol="0" anchor="ctr"/>
          <a:lstStyle/>
          <a:p>
            <a:pPr indent="0" marL="0">
              <a:buNone/>
            </a:pPr>
            <a:r>
              <a:rPr lang="en-US" sz="1300" i="1" dirty="0">
                <a:solidFill>
                  <a:srgbClr val="68767D"/>
                </a:solidFill>
                <a:latin typeface="Calibri" pitchFamily="34" charset="0"/>
                <a:ea typeface="Calibri" pitchFamily="34" charset="-122"/>
                <a:cs typeface="Calibri" pitchFamily="34" charset="-120"/>
              </a:rPr>
              <a:t>Al abrir nuestros sistemas a otras organizaciones (B2B), nos exponemos a sobrecargas impredecibles o ataques DDoS.</a:t>
            </a:r>
            <a:endParaRPr lang="en-US" sz="1300" dirty="0"/>
          </a:p>
        </p:txBody>
      </p:sp>
      <p:sp>
        <p:nvSpPr>
          <p:cNvPr id="5" name="Shape 3"/>
          <p:cNvSpPr/>
          <p:nvPr/>
        </p:nvSpPr>
        <p:spPr>
          <a:xfrm>
            <a:off x="548640" y="1965960"/>
            <a:ext cx="10789920" cy="1234440"/>
          </a:xfrm>
          <a:prstGeom prst="roundRect">
            <a:avLst>
              <a:gd name="adj" fmla="val 5926"/>
            </a:avLst>
          </a:prstGeom>
          <a:solidFill>
            <a:srgbClr val="F4F7F6"/>
          </a:solidFill>
          <a:ln/>
        </p:spPr>
      </p:sp>
      <p:sp>
        <p:nvSpPr>
          <p:cNvPr id="6" name="Shape 4"/>
          <p:cNvSpPr/>
          <p:nvPr/>
        </p:nvSpPr>
        <p:spPr>
          <a:xfrm>
            <a:off x="822960" y="2185416"/>
            <a:ext cx="146304" cy="146304"/>
          </a:xfrm>
          <a:prstGeom prst="ellipse">
            <a:avLst/>
          </a:prstGeom>
          <a:solidFill>
            <a:srgbClr val="35C88A"/>
          </a:solidFill>
          <a:ln/>
        </p:spPr>
      </p:sp>
      <p:sp>
        <p:nvSpPr>
          <p:cNvPr id="7" name="Text 5"/>
          <p:cNvSpPr/>
          <p:nvPr/>
        </p:nvSpPr>
        <p:spPr>
          <a:xfrm>
            <a:off x="1097280" y="2130552"/>
            <a:ext cx="9784080" cy="365760"/>
          </a:xfrm>
          <a:prstGeom prst="rect">
            <a:avLst/>
          </a:prstGeom>
          <a:noFill/>
          <a:ln/>
        </p:spPr>
        <p:txBody>
          <a:bodyPr wrap="square" rtlCol="0" anchor="ctr"/>
          <a:lstStyle/>
          <a:p>
            <a:pPr indent="0" marL="0">
              <a:buNone/>
            </a:pPr>
            <a:r>
              <a:rPr lang="en-US" sz="1500" b="1" dirty="0">
                <a:solidFill>
                  <a:srgbClr val="16262E"/>
                </a:solidFill>
                <a:latin typeface="Calibri" pitchFamily="34" charset="0"/>
                <a:ea typeface="Calibri" pitchFamily="34" charset="-122"/>
                <a:cs typeface="Calibri" pitchFamily="34" charset="-120"/>
              </a:rPr>
              <a:t>Autoescalado (HPA en Kubernetes)</a:t>
            </a:r>
            <a:endParaRPr lang="en-US" sz="1500" dirty="0"/>
          </a:p>
        </p:txBody>
      </p:sp>
      <p:sp>
        <p:nvSpPr>
          <p:cNvPr id="8" name="Text 6"/>
          <p:cNvSpPr/>
          <p:nvPr/>
        </p:nvSpPr>
        <p:spPr>
          <a:xfrm>
            <a:off x="914400" y="2514600"/>
            <a:ext cx="9966960" cy="594360"/>
          </a:xfrm>
          <a:prstGeom prst="rect">
            <a:avLst/>
          </a:prstGeom>
          <a:noFill/>
          <a:ln/>
        </p:spPr>
        <p:txBody>
          <a:bodyPr wrap="square"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Creación automática de nuevas réplicas del servicio cuando sube el consumo de CPU, evitando caídas.</a:t>
            </a:r>
            <a:endParaRPr lang="en-US" sz="1200" dirty="0"/>
          </a:p>
        </p:txBody>
      </p:sp>
      <p:sp>
        <p:nvSpPr>
          <p:cNvPr id="9" name="Shape 7"/>
          <p:cNvSpPr/>
          <p:nvPr/>
        </p:nvSpPr>
        <p:spPr>
          <a:xfrm>
            <a:off x="548640" y="3383280"/>
            <a:ext cx="10789920" cy="1234440"/>
          </a:xfrm>
          <a:prstGeom prst="roundRect">
            <a:avLst>
              <a:gd name="adj" fmla="val 5926"/>
            </a:avLst>
          </a:prstGeom>
          <a:solidFill>
            <a:srgbClr val="F4F7F6"/>
          </a:solidFill>
          <a:ln/>
        </p:spPr>
      </p:sp>
      <p:sp>
        <p:nvSpPr>
          <p:cNvPr id="10" name="Shape 8"/>
          <p:cNvSpPr/>
          <p:nvPr/>
        </p:nvSpPr>
        <p:spPr>
          <a:xfrm>
            <a:off x="822960" y="3602736"/>
            <a:ext cx="146304" cy="146304"/>
          </a:xfrm>
          <a:prstGeom prst="ellipse">
            <a:avLst/>
          </a:prstGeom>
          <a:solidFill>
            <a:srgbClr val="FF6E52"/>
          </a:solidFill>
          <a:ln/>
        </p:spPr>
      </p:sp>
      <p:sp>
        <p:nvSpPr>
          <p:cNvPr id="11" name="Text 9"/>
          <p:cNvSpPr/>
          <p:nvPr/>
        </p:nvSpPr>
        <p:spPr>
          <a:xfrm>
            <a:off x="1097280" y="3547872"/>
            <a:ext cx="9784080" cy="365760"/>
          </a:xfrm>
          <a:prstGeom prst="rect">
            <a:avLst/>
          </a:prstGeom>
          <a:noFill/>
          <a:ln/>
        </p:spPr>
        <p:txBody>
          <a:bodyPr wrap="square" rtlCol="0" anchor="ctr"/>
          <a:lstStyle/>
          <a:p>
            <a:pPr indent="0" marL="0">
              <a:buNone/>
            </a:pPr>
            <a:r>
              <a:rPr lang="en-US" sz="1500" b="1" dirty="0">
                <a:solidFill>
                  <a:srgbClr val="16262E"/>
                </a:solidFill>
                <a:latin typeface="Calibri" pitchFamily="34" charset="0"/>
                <a:ea typeface="Calibri" pitchFamily="34" charset="-122"/>
                <a:cs typeface="Calibri" pitchFamily="34" charset="-120"/>
              </a:rPr>
              <a:t>Rate Limiting</a:t>
            </a:r>
            <a:endParaRPr lang="en-US" sz="1500" dirty="0"/>
          </a:p>
        </p:txBody>
      </p:sp>
      <p:sp>
        <p:nvSpPr>
          <p:cNvPr id="12" name="Text 10"/>
          <p:cNvSpPr/>
          <p:nvPr/>
        </p:nvSpPr>
        <p:spPr>
          <a:xfrm>
            <a:off x="914400" y="3931920"/>
            <a:ext cx="9966960" cy="594360"/>
          </a:xfrm>
          <a:prstGeom prst="rect">
            <a:avLst/>
          </a:prstGeom>
          <a:noFill/>
          <a:ln/>
        </p:spPr>
        <p:txBody>
          <a:bodyPr wrap="square"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Control clave de la ISO 27010: un socio externo solo puede hacer “X” peticiones por segundo, protegiendo los recursos internos.</a:t>
            </a:r>
            <a:endParaRPr lang="en-US" sz="1200" dirty="0"/>
          </a:p>
        </p:txBody>
      </p:sp>
      <p:sp>
        <p:nvSpPr>
          <p:cNvPr id="13" name="Shape 11"/>
          <p:cNvSpPr/>
          <p:nvPr/>
        </p:nvSpPr>
        <p:spPr>
          <a:xfrm>
            <a:off x="548640" y="4800600"/>
            <a:ext cx="10789920" cy="1234440"/>
          </a:xfrm>
          <a:prstGeom prst="roundRect">
            <a:avLst>
              <a:gd name="adj" fmla="val 5926"/>
            </a:avLst>
          </a:prstGeom>
          <a:solidFill>
            <a:srgbClr val="F4F7F6"/>
          </a:solidFill>
          <a:ln/>
        </p:spPr>
      </p:sp>
      <p:sp>
        <p:nvSpPr>
          <p:cNvPr id="14" name="Shape 12"/>
          <p:cNvSpPr/>
          <p:nvPr/>
        </p:nvSpPr>
        <p:spPr>
          <a:xfrm>
            <a:off x="822960" y="5020056"/>
            <a:ext cx="146304" cy="146304"/>
          </a:xfrm>
          <a:prstGeom prst="ellipse">
            <a:avLst/>
          </a:prstGeom>
          <a:solidFill>
            <a:srgbClr val="16262E"/>
          </a:solidFill>
          <a:ln/>
        </p:spPr>
      </p:sp>
      <p:sp>
        <p:nvSpPr>
          <p:cNvPr id="15" name="Text 13"/>
          <p:cNvSpPr/>
          <p:nvPr/>
        </p:nvSpPr>
        <p:spPr>
          <a:xfrm>
            <a:off x="1097280" y="4965192"/>
            <a:ext cx="9784080" cy="365760"/>
          </a:xfrm>
          <a:prstGeom prst="rect">
            <a:avLst/>
          </a:prstGeom>
          <a:noFill/>
          <a:ln/>
        </p:spPr>
        <p:txBody>
          <a:bodyPr wrap="square" rtlCol="0" anchor="ctr"/>
          <a:lstStyle/>
          <a:p>
            <a:pPr indent="0" marL="0">
              <a:buNone/>
            </a:pPr>
            <a:r>
              <a:rPr lang="en-US" sz="1500" b="1" dirty="0">
                <a:solidFill>
                  <a:srgbClr val="16262E"/>
                </a:solidFill>
                <a:latin typeface="Calibri" pitchFamily="34" charset="0"/>
                <a:ea typeface="Calibri" pitchFamily="34" charset="-122"/>
                <a:cs typeface="Calibri" pitchFamily="34" charset="-120"/>
              </a:rPr>
              <a:t>WAF (Web Application Firewall)</a:t>
            </a:r>
            <a:endParaRPr lang="en-US" sz="1500" dirty="0"/>
          </a:p>
        </p:txBody>
      </p:sp>
      <p:sp>
        <p:nvSpPr>
          <p:cNvPr id="16" name="Text 14"/>
          <p:cNvSpPr/>
          <p:nvPr/>
        </p:nvSpPr>
        <p:spPr>
          <a:xfrm>
            <a:off x="914400" y="5349240"/>
            <a:ext cx="9966960" cy="594360"/>
          </a:xfrm>
          <a:prstGeom prst="rect">
            <a:avLst/>
          </a:prstGeom>
          <a:noFill/>
          <a:ln/>
        </p:spPr>
        <p:txBody>
          <a:bodyPr wrap="square"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Infraestructura en el borde que filtra tráfico malicioso antes de que llegue a los servidores.</a:t>
            </a:r>
            <a:endParaRPr lang="en-US" sz="1200" dirty="0"/>
          </a:p>
        </p:txBody>
      </p:sp>
      <p:sp>
        <p:nvSpPr>
          <p:cNvPr id="17" name="Text 15"/>
          <p:cNvSpPr/>
          <p:nvPr/>
        </p:nvSpPr>
        <p:spPr>
          <a:xfrm>
            <a:off x="457200" y="6537960"/>
            <a:ext cx="3657600" cy="274320"/>
          </a:xfrm>
          <a:prstGeom prst="rect">
            <a:avLst/>
          </a:prstGeom>
          <a:noFill/>
          <a:ln/>
        </p:spPr>
        <p:txBody>
          <a:bodyPr wrap="square" rtlCol="0" anchor="ctr"/>
          <a:lstStyle/>
          <a:p>
            <a:pPr indent="0" marL="0">
              <a:buNone/>
            </a:pPr>
            <a:r>
              <a:rPr lang="en-US" sz="900" dirty="0">
                <a:solidFill>
                  <a:srgbClr val="68767D"/>
                </a:solidFill>
                <a:latin typeface="Calibri" pitchFamily="34" charset="0"/>
                <a:ea typeface="Calibri" pitchFamily="34" charset="-122"/>
                <a:cs typeface="Calibri" pitchFamily="34" charset="-120"/>
              </a:rPr>
              <a:t>ISO/IEC 27010</a:t>
            </a:r>
            <a:endParaRPr lang="en-US" sz="900" dirty="0"/>
          </a:p>
        </p:txBody>
      </p:sp>
      <p:sp>
        <p:nvSpPr>
          <p:cNvPr id="18" name="Text 16"/>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8767D"/>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62E"/>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150" kern="0" dirty="0">
                <a:solidFill>
                  <a:srgbClr val="FF6E52"/>
                </a:solidFill>
                <a:latin typeface="Calibri" pitchFamily="34" charset="0"/>
                <a:ea typeface="Calibri" pitchFamily="34" charset="-122"/>
                <a:cs typeface="Calibri" pitchFamily="34" charset="-120"/>
              </a:rPr>
              <a:t>SAFETY E INFRAESTRUCTURA CRÍTICA</a:t>
            </a:r>
            <a:endParaRPr lang="en-US" sz="1300" dirty="0"/>
          </a:p>
        </p:txBody>
      </p:sp>
      <p:sp>
        <p:nvSpPr>
          <p:cNvPr id="3" name="Text 1"/>
          <p:cNvSpPr/>
          <p:nvPr/>
        </p:nvSpPr>
        <p:spPr>
          <a:xfrm>
            <a:off x="548640" y="713232"/>
            <a:ext cx="10789920" cy="548640"/>
          </a:xfrm>
          <a:prstGeom prst="rect">
            <a:avLst/>
          </a:prstGeom>
          <a:noFill/>
          <a:ln/>
        </p:spPr>
        <p:txBody>
          <a:bodyPr wrap="square" rtlCol="0" anchor="ctr"/>
          <a:lstStyle/>
          <a:p>
            <a:pPr indent="0" marL="0">
              <a:buNone/>
            </a:pPr>
            <a:r>
              <a:rPr lang="en-US" sz="2300" b="1" dirty="0">
                <a:solidFill>
                  <a:srgbClr val="FFFFFF"/>
                </a:solidFill>
                <a:latin typeface="Calibri" pitchFamily="34" charset="0"/>
                <a:ea typeface="Calibri" pitchFamily="34" charset="-122"/>
                <a:cs typeface="Calibri" pitchFamily="34" charset="-120"/>
              </a:rPr>
              <a:t>Cuando el software interactúa con el mundo físico</a:t>
            </a:r>
            <a:endParaRPr lang="en-US" sz="2300" dirty="0"/>
          </a:p>
        </p:txBody>
      </p:sp>
      <p:sp>
        <p:nvSpPr>
          <p:cNvPr id="4" name="Text 2"/>
          <p:cNvSpPr/>
          <p:nvPr/>
        </p:nvSpPr>
        <p:spPr>
          <a:xfrm>
            <a:off x="548640" y="1280160"/>
            <a:ext cx="10789920" cy="548640"/>
          </a:xfrm>
          <a:prstGeom prst="rect">
            <a:avLst/>
          </a:prstGeom>
          <a:noFill/>
          <a:ln/>
        </p:spPr>
        <p:txBody>
          <a:bodyPr wrap="square" rtlCol="0" anchor="ctr"/>
          <a:lstStyle/>
          <a:p>
            <a:pPr indent="0" marL="0">
              <a:buNone/>
            </a:pPr>
            <a:r>
              <a:rPr lang="en-US" sz="1300" i="1" dirty="0">
                <a:solidFill>
                  <a:srgbClr val="A9B7BC"/>
                </a:solidFill>
                <a:latin typeface="Calibri" pitchFamily="34" charset="0"/>
                <a:ea typeface="Calibri" pitchFamily="34" charset="-122"/>
                <a:cs typeface="Calibri" pitchFamily="34" charset="-120"/>
              </a:rPr>
              <a:t>La ISO 27010 hace especial énfasis en proteger infraestructuras críticas (redes eléctricas, hospitales que comparten historiales médicos).</a:t>
            </a:r>
            <a:endParaRPr lang="en-US" sz="1300" dirty="0"/>
          </a:p>
        </p:txBody>
      </p:sp>
      <p:sp>
        <p:nvSpPr>
          <p:cNvPr id="5" name="Shape 3"/>
          <p:cNvSpPr/>
          <p:nvPr/>
        </p:nvSpPr>
        <p:spPr>
          <a:xfrm>
            <a:off x="548640" y="2194560"/>
            <a:ext cx="5120640" cy="2926080"/>
          </a:xfrm>
          <a:prstGeom prst="roundRect">
            <a:avLst>
              <a:gd name="adj" fmla="val 3125"/>
            </a:avLst>
          </a:prstGeom>
          <a:solidFill>
            <a:srgbClr val="0E1A20"/>
          </a:solidFill>
          <a:ln w="12700">
            <a:solidFill>
              <a:srgbClr val="FF6E52"/>
            </a:solidFill>
            <a:prstDash val="solid"/>
          </a:ln>
        </p:spPr>
      </p:sp>
      <p:sp>
        <p:nvSpPr>
          <p:cNvPr id="6" name="Text 4"/>
          <p:cNvSpPr/>
          <p:nvPr/>
        </p:nvSpPr>
        <p:spPr>
          <a:xfrm>
            <a:off x="914400" y="2560320"/>
            <a:ext cx="4389120" cy="548640"/>
          </a:xfrm>
          <a:prstGeom prst="rect">
            <a:avLst/>
          </a:prstGeom>
          <a:noFill/>
          <a:ln/>
        </p:spPr>
        <p:txBody>
          <a:bodyPr wrap="square" rtlCol="0" anchor="ctr"/>
          <a:lstStyle/>
          <a:p>
            <a:pPr indent="0" marL="0">
              <a:buNone/>
            </a:pPr>
            <a:r>
              <a:rPr lang="en-US" sz="1800" b="1" dirty="0">
                <a:solidFill>
                  <a:srgbClr val="FF6E52"/>
                </a:solidFill>
                <a:latin typeface="Calibri" pitchFamily="34" charset="0"/>
                <a:ea typeface="Calibri" pitchFamily="34" charset="-122"/>
                <a:cs typeface="Calibri" pitchFamily="34" charset="-120"/>
              </a:rPr>
              <a:t>Edge Computing</a:t>
            </a:r>
            <a:endParaRPr lang="en-US" sz="1800" dirty="0"/>
          </a:p>
        </p:txBody>
      </p:sp>
      <p:sp>
        <p:nvSpPr>
          <p:cNvPr id="7" name="Text 5"/>
          <p:cNvSpPr/>
          <p:nvPr/>
        </p:nvSpPr>
        <p:spPr>
          <a:xfrm>
            <a:off x="914400" y="3200400"/>
            <a:ext cx="4389120" cy="1737360"/>
          </a:xfrm>
          <a:prstGeom prst="rect">
            <a:avLst/>
          </a:prstGeom>
          <a:noFill/>
          <a:ln/>
        </p:spPr>
        <p:txBody>
          <a:bodyPr wrap="square" rtlCol="0" anchor="t"/>
          <a:lstStyle/>
          <a:p>
            <a:pPr indent="0" marL="0">
              <a:buNone/>
            </a:pPr>
            <a:r>
              <a:rPr lang="en-US" sz="1300" dirty="0">
                <a:solidFill>
                  <a:srgbClr val="D7E0E3"/>
                </a:solidFill>
                <a:latin typeface="Calibri" pitchFamily="34" charset="0"/>
                <a:ea typeface="Calibri" pitchFamily="34" charset="-122"/>
                <a:cs typeface="Calibri" pitchFamily="34" charset="-120"/>
              </a:rPr>
              <a:t>Procesar datos críticos lo más cerca posible de la máquina física (un respirador médico, un brazo robótico) en lugar de depender solo de la nube central.</a:t>
            </a:r>
            <a:endParaRPr lang="en-US" sz="1300" dirty="0"/>
          </a:p>
        </p:txBody>
      </p:sp>
      <p:sp>
        <p:nvSpPr>
          <p:cNvPr id="8" name="Shape 6"/>
          <p:cNvSpPr/>
          <p:nvPr/>
        </p:nvSpPr>
        <p:spPr>
          <a:xfrm>
            <a:off x="6035040" y="2194560"/>
            <a:ext cx="5120640" cy="2926080"/>
          </a:xfrm>
          <a:prstGeom prst="roundRect">
            <a:avLst>
              <a:gd name="adj" fmla="val 3125"/>
            </a:avLst>
          </a:prstGeom>
          <a:solidFill>
            <a:srgbClr val="0E1A20"/>
          </a:solidFill>
          <a:ln w="12700">
            <a:solidFill>
              <a:srgbClr val="FF6E52"/>
            </a:solidFill>
            <a:prstDash val="solid"/>
          </a:ln>
        </p:spPr>
      </p:sp>
      <p:sp>
        <p:nvSpPr>
          <p:cNvPr id="9" name="Text 7"/>
          <p:cNvSpPr/>
          <p:nvPr/>
        </p:nvSpPr>
        <p:spPr>
          <a:xfrm>
            <a:off x="6400800" y="2560320"/>
            <a:ext cx="4389120" cy="548640"/>
          </a:xfrm>
          <a:prstGeom prst="rect">
            <a:avLst/>
          </a:prstGeom>
          <a:noFill/>
          <a:ln/>
        </p:spPr>
        <p:txBody>
          <a:bodyPr wrap="square" rtlCol="0" anchor="ctr"/>
          <a:lstStyle/>
          <a:p>
            <a:pPr indent="0" marL="0">
              <a:buNone/>
            </a:pPr>
            <a:r>
              <a:rPr lang="en-US" sz="1800" b="1" dirty="0">
                <a:solidFill>
                  <a:srgbClr val="FF6E52"/>
                </a:solidFill>
                <a:latin typeface="Calibri" pitchFamily="34" charset="0"/>
                <a:ea typeface="Calibri" pitchFamily="34" charset="-122"/>
                <a:cs typeface="Calibri" pitchFamily="34" charset="-120"/>
              </a:rPr>
              <a:t>Zero-Trust Architecture</a:t>
            </a:r>
            <a:endParaRPr lang="en-US" sz="1800" dirty="0"/>
          </a:p>
        </p:txBody>
      </p:sp>
      <p:sp>
        <p:nvSpPr>
          <p:cNvPr id="10" name="Text 8"/>
          <p:cNvSpPr/>
          <p:nvPr/>
        </p:nvSpPr>
        <p:spPr>
          <a:xfrm>
            <a:off x="6400800" y="3200400"/>
            <a:ext cx="4389120" cy="1737360"/>
          </a:xfrm>
          <a:prstGeom prst="rect">
            <a:avLst/>
          </a:prstGeom>
          <a:noFill/>
          <a:ln/>
        </p:spPr>
        <p:txBody>
          <a:bodyPr wrap="square" rtlCol="0" anchor="t"/>
          <a:lstStyle/>
          <a:p>
            <a:pPr indent="0" marL="0">
              <a:buNone/>
            </a:pPr>
            <a:r>
              <a:rPr lang="en-US" sz="1300" dirty="0">
                <a:solidFill>
                  <a:srgbClr val="D7E0E3"/>
                </a:solidFill>
                <a:latin typeface="Calibri" pitchFamily="34" charset="0"/>
                <a:ea typeface="Calibri" pitchFamily="34" charset="-122"/>
                <a:cs typeface="Calibri" pitchFamily="34" charset="-120"/>
              </a:rPr>
              <a:t>La infraestructura asume que toda red está comprometida. Ninguna organización ni sistema tiene permiso por defecto; todo se verifica constantemente.</a:t>
            </a:r>
            <a:endParaRPr lang="en-US" sz="1300" dirty="0"/>
          </a:p>
        </p:txBody>
      </p:sp>
      <p:sp>
        <p:nvSpPr>
          <p:cNvPr id="11" name="Text 9"/>
          <p:cNvSpPr/>
          <p:nvPr/>
        </p:nvSpPr>
        <p:spPr>
          <a:xfrm>
            <a:off x="457200" y="6537960"/>
            <a:ext cx="3657600" cy="274320"/>
          </a:xfrm>
          <a:prstGeom prst="rect">
            <a:avLst/>
          </a:prstGeom>
          <a:noFill/>
          <a:ln/>
        </p:spPr>
        <p:txBody>
          <a:bodyPr wrap="square" rtlCol="0" anchor="ctr"/>
          <a:lstStyle/>
          <a:p>
            <a:pPr indent="0" marL="0">
              <a:buNone/>
            </a:pPr>
            <a:r>
              <a:rPr lang="en-US" sz="900" dirty="0">
                <a:solidFill>
                  <a:srgbClr val="68767D"/>
                </a:solidFill>
                <a:latin typeface="Calibri" pitchFamily="34" charset="0"/>
                <a:ea typeface="Calibri" pitchFamily="34" charset="-122"/>
                <a:cs typeface="Calibri" pitchFamily="34" charset="-120"/>
              </a:rPr>
              <a:t>ISO/IEC 27010</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8767D"/>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300" b="1" spc="150" kern="0" dirty="0">
                <a:solidFill>
                  <a:srgbClr val="FF6E52"/>
                </a:solidFill>
                <a:latin typeface="Calibri" pitchFamily="34" charset="0"/>
                <a:ea typeface="Calibri" pitchFamily="34" charset="-122"/>
                <a:cs typeface="Calibri" pitchFamily="34" charset="-120"/>
              </a:rPr>
              <a:t>CONCLUSIONES</a:t>
            </a:r>
            <a:endParaRPr lang="en-US" sz="1300" dirty="0"/>
          </a:p>
        </p:txBody>
      </p:sp>
      <p:sp>
        <p:nvSpPr>
          <p:cNvPr id="3" name="Text 1"/>
          <p:cNvSpPr/>
          <p:nvPr/>
        </p:nvSpPr>
        <p:spPr>
          <a:xfrm>
            <a:off x="548640" y="713232"/>
            <a:ext cx="10789920" cy="548640"/>
          </a:xfrm>
          <a:prstGeom prst="rect">
            <a:avLst/>
          </a:prstGeom>
          <a:noFill/>
          <a:ln/>
        </p:spPr>
        <p:txBody>
          <a:bodyPr wrap="square" rtlCol="0" anchor="ctr"/>
          <a:lstStyle/>
          <a:p>
            <a:pPr indent="0" marL="0">
              <a:buNone/>
            </a:pPr>
            <a:r>
              <a:rPr lang="en-US" sz="2600" b="1" dirty="0">
                <a:solidFill>
                  <a:srgbClr val="16262E"/>
                </a:solidFill>
                <a:latin typeface="Calibri" pitchFamily="34" charset="0"/>
                <a:ea typeface="Calibri" pitchFamily="34" charset="-122"/>
                <a:cs typeface="Calibri" pitchFamily="34" charset="-120"/>
              </a:rPr>
              <a:t>El ecosistema seguro del futuro</a:t>
            </a:r>
            <a:endParaRPr lang="en-US" sz="2600" dirty="0"/>
          </a:p>
        </p:txBody>
      </p:sp>
      <p:sp>
        <p:nvSpPr>
          <p:cNvPr id="4" name="Shape 2"/>
          <p:cNvSpPr/>
          <p:nvPr/>
        </p:nvSpPr>
        <p:spPr>
          <a:xfrm>
            <a:off x="548640" y="1691640"/>
            <a:ext cx="10789920" cy="1051560"/>
          </a:xfrm>
          <a:prstGeom prst="roundRect">
            <a:avLst>
              <a:gd name="adj" fmla="val 6957"/>
            </a:avLst>
          </a:prstGeom>
          <a:solidFill>
            <a:srgbClr val="F4F7F6"/>
          </a:solidFill>
          <a:ln/>
        </p:spPr>
      </p:sp>
      <p:sp>
        <p:nvSpPr>
          <p:cNvPr id="5" name="Shape 3"/>
          <p:cNvSpPr/>
          <p:nvPr/>
        </p:nvSpPr>
        <p:spPr>
          <a:xfrm>
            <a:off x="822960" y="1837944"/>
            <a:ext cx="137160" cy="137160"/>
          </a:xfrm>
          <a:prstGeom prst="ellipse">
            <a:avLst/>
          </a:prstGeom>
          <a:solidFill>
            <a:srgbClr val="35C88A"/>
          </a:solidFill>
          <a:ln/>
        </p:spPr>
      </p:sp>
      <p:sp>
        <p:nvSpPr>
          <p:cNvPr id="6" name="Text 4"/>
          <p:cNvSpPr/>
          <p:nvPr/>
        </p:nvSpPr>
        <p:spPr>
          <a:xfrm>
            <a:off x="1097280" y="1819656"/>
            <a:ext cx="9784080" cy="365760"/>
          </a:xfrm>
          <a:prstGeom prst="rect">
            <a:avLst/>
          </a:prstGeom>
          <a:noFill/>
          <a:ln/>
        </p:spPr>
        <p:txBody>
          <a:bodyPr wrap="square" rtlCol="0" anchor="ctr"/>
          <a:lstStyle/>
          <a:p>
            <a:pPr indent="0" marL="0">
              <a:buNone/>
            </a:pPr>
            <a:r>
              <a:rPr lang="en-US" sz="1550" b="1" dirty="0">
                <a:solidFill>
                  <a:srgbClr val="16262E"/>
                </a:solidFill>
                <a:latin typeface="Calibri" pitchFamily="34" charset="0"/>
                <a:ea typeface="Calibri" pitchFamily="34" charset="-122"/>
                <a:cs typeface="Calibri" pitchFamily="34" charset="-120"/>
              </a:rPr>
              <a:t>El código no basta</a:t>
            </a:r>
            <a:endParaRPr lang="en-US" sz="1550" dirty="0"/>
          </a:p>
        </p:txBody>
      </p:sp>
      <p:sp>
        <p:nvSpPr>
          <p:cNvPr id="7" name="Text 5"/>
          <p:cNvSpPr/>
          <p:nvPr/>
        </p:nvSpPr>
        <p:spPr>
          <a:xfrm>
            <a:off x="914400" y="2194560"/>
            <a:ext cx="9966960" cy="502920"/>
          </a:xfrm>
          <a:prstGeom prst="rect">
            <a:avLst/>
          </a:prstGeom>
          <a:noFill/>
          <a:ln/>
        </p:spPr>
        <p:txBody>
          <a:bodyPr wrap="square"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Las características de calidad y seguridad modernas se implementan y sostienen en la capa de infraestructura (Cloud/Kubernetes).</a:t>
            </a:r>
            <a:endParaRPr lang="en-US" sz="1200" dirty="0"/>
          </a:p>
        </p:txBody>
      </p:sp>
      <p:sp>
        <p:nvSpPr>
          <p:cNvPr id="8" name="Shape 6"/>
          <p:cNvSpPr/>
          <p:nvPr/>
        </p:nvSpPr>
        <p:spPr>
          <a:xfrm>
            <a:off x="548640" y="2898648"/>
            <a:ext cx="10789920" cy="1051560"/>
          </a:xfrm>
          <a:prstGeom prst="roundRect">
            <a:avLst>
              <a:gd name="adj" fmla="val 6957"/>
            </a:avLst>
          </a:prstGeom>
          <a:solidFill>
            <a:srgbClr val="F4F7F6"/>
          </a:solidFill>
          <a:ln/>
        </p:spPr>
      </p:sp>
      <p:sp>
        <p:nvSpPr>
          <p:cNvPr id="9" name="Shape 7"/>
          <p:cNvSpPr/>
          <p:nvPr/>
        </p:nvSpPr>
        <p:spPr>
          <a:xfrm>
            <a:off x="822960" y="3044952"/>
            <a:ext cx="137160" cy="137160"/>
          </a:xfrm>
          <a:prstGeom prst="ellipse">
            <a:avLst/>
          </a:prstGeom>
          <a:solidFill>
            <a:srgbClr val="FF6E52"/>
          </a:solidFill>
          <a:ln/>
        </p:spPr>
      </p:sp>
      <p:sp>
        <p:nvSpPr>
          <p:cNvPr id="10" name="Text 8"/>
          <p:cNvSpPr/>
          <p:nvPr/>
        </p:nvSpPr>
        <p:spPr>
          <a:xfrm>
            <a:off x="1097280" y="3026664"/>
            <a:ext cx="9784080" cy="365760"/>
          </a:xfrm>
          <a:prstGeom prst="rect">
            <a:avLst/>
          </a:prstGeom>
          <a:noFill/>
          <a:ln/>
        </p:spPr>
        <p:txBody>
          <a:bodyPr wrap="square" rtlCol="0" anchor="ctr"/>
          <a:lstStyle/>
          <a:p>
            <a:pPr indent="0" marL="0">
              <a:buNone/>
            </a:pPr>
            <a:r>
              <a:rPr lang="en-US" sz="1550" b="1" dirty="0">
                <a:solidFill>
                  <a:srgbClr val="16262E"/>
                </a:solidFill>
                <a:latin typeface="Calibri" pitchFamily="34" charset="0"/>
                <a:ea typeface="Calibri" pitchFamily="34" charset="-122"/>
                <a:cs typeface="Calibri" pitchFamily="34" charset="-120"/>
              </a:rPr>
              <a:t>La confianza es técnica</a:t>
            </a:r>
            <a:endParaRPr lang="en-US" sz="1550" dirty="0"/>
          </a:p>
        </p:txBody>
      </p:sp>
      <p:sp>
        <p:nvSpPr>
          <p:cNvPr id="11" name="Text 9"/>
          <p:cNvSpPr/>
          <p:nvPr/>
        </p:nvSpPr>
        <p:spPr>
          <a:xfrm>
            <a:off x="914400" y="3401568"/>
            <a:ext cx="9966960" cy="502920"/>
          </a:xfrm>
          <a:prstGeom prst="rect">
            <a:avLst/>
          </a:prstGeom>
          <a:noFill/>
          <a:ln/>
        </p:spPr>
        <p:txBody>
          <a:bodyPr wrap="square"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La ISO 27010 enseña que el intercambio de datos entre empresas ya no depende solo de contratos legales, sino de arquitecturas Zero-Trust y Service Meshes.</a:t>
            </a:r>
            <a:endParaRPr lang="en-US" sz="1200" dirty="0"/>
          </a:p>
        </p:txBody>
      </p:sp>
      <p:sp>
        <p:nvSpPr>
          <p:cNvPr id="12" name="Shape 10"/>
          <p:cNvSpPr/>
          <p:nvPr/>
        </p:nvSpPr>
        <p:spPr>
          <a:xfrm>
            <a:off x="548640" y="4105656"/>
            <a:ext cx="10789920" cy="1051560"/>
          </a:xfrm>
          <a:prstGeom prst="roundRect">
            <a:avLst>
              <a:gd name="adj" fmla="val 6957"/>
            </a:avLst>
          </a:prstGeom>
          <a:solidFill>
            <a:srgbClr val="F4F7F6"/>
          </a:solidFill>
          <a:ln/>
        </p:spPr>
      </p:sp>
      <p:sp>
        <p:nvSpPr>
          <p:cNvPr id="13" name="Shape 11"/>
          <p:cNvSpPr/>
          <p:nvPr/>
        </p:nvSpPr>
        <p:spPr>
          <a:xfrm>
            <a:off x="822960" y="4251960"/>
            <a:ext cx="137160" cy="137160"/>
          </a:xfrm>
          <a:prstGeom prst="ellipse">
            <a:avLst/>
          </a:prstGeom>
          <a:solidFill>
            <a:srgbClr val="16262E"/>
          </a:solidFill>
          <a:ln/>
        </p:spPr>
      </p:sp>
      <p:sp>
        <p:nvSpPr>
          <p:cNvPr id="14" name="Text 12"/>
          <p:cNvSpPr/>
          <p:nvPr/>
        </p:nvSpPr>
        <p:spPr>
          <a:xfrm>
            <a:off x="1097280" y="4233672"/>
            <a:ext cx="9784080" cy="365760"/>
          </a:xfrm>
          <a:prstGeom prst="rect">
            <a:avLst/>
          </a:prstGeom>
          <a:noFill/>
          <a:ln/>
        </p:spPr>
        <p:txBody>
          <a:bodyPr wrap="square" rtlCol="0" anchor="ctr"/>
          <a:lstStyle/>
          <a:p>
            <a:pPr indent="0" marL="0">
              <a:buNone/>
            </a:pPr>
            <a:r>
              <a:rPr lang="en-US" sz="1550" b="1" dirty="0">
                <a:solidFill>
                  <a:srgbClr val="16262E"/>
                </a:solidFill>
                <a:latin typeface="Calibri" pitchFamily="34" charset="0"/>
                <a:ea typeface="Calibri" pitchFamily="34" charset="-122"/>
                <a:cs typeface="Calibri" pitchFamily="34" charset="-120"/>
              </a:rPr>
              <a:t>Todo como código</a:t>
            </a:r>
            <a:endParaRPr lang="en-US" sz="1550" dirty="0"/>
          </a:p>
        </p:txBody>
      </p:sp>
      <p:sp>
        <p:nvSpPr>
          <p:cNvPr id="15" name="Text 13"/>
          <p:cNvSpPr/>
          <p:nvPr/>
        </p:nvSpPr>
        <p:spPr>
          <a:xfrm>
            <a:off x="914400" y="4608576"/>
            <a:ext cx="9966960" cy="502920"/>
          </a:xfrm>
          <a:prstGeom prst="rect">
            <a:avLst/>
          </a:prstGeom>
          <a:noFill/>
          <a:ln/>
        </p:spPr>
        <p:txBody>
          <a:bodyPr wrap="square"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La única forma de mantener entornos escalables, disponibles y seguros a nivel empresarial es la automatización total (CI/CD + IaC).</a:t>
            </a:r>
            <a:endParaRPr lang="en-US" sz="1200" dirty="0"/>
          </a:p>
        </p:txBody>
      </p:sp>
      <p:sp>
        <p:nvSpPr>
          <p:cNvPr id="16" name="Shape 14"/>
          <p:cNvSpPr/>
          <p:nvPr/>
        </p:nvSpPr>
        <p:spPr>
          <a:xfrm>
            <a:off x="548640" y="5394960"/>
            <a:ext cx="10789920" cy="1051560"/>
          </a:xfrm>
          <a:prstGeom prst="roundRect">
            <a:avLst>
              <a:gd name="adj" fmla="val 6957"/>
            </a:avLst>
          </a:prstGeom>
          <a:solidFill>
            <a:srgbClr val="16262E"/>
          </a:solidFill>
          <a:ln/>
        </p:spPr>
      </p:sp>
      <p:sp>
        <p:nvSpPr>
          <p:cNvPr id="17" name="Text 15"/>
          <p:cNvSpPr/>
          <p:nvPr/>
        </p:nvSpPr>
        <p:spPr>
          <a:xfrm>
            <a:off x="822960" y="5486400"/>
            <a:ext cx="3657600" cy="320040"/>
          </a:xfrm>
          <a:prstGeom prst="rect">
            <a:avLst/>
          </a:prstGeom>
          <a:noFill/>
          <a:ln/>
        </p:spPr>
        <p:txBody>
          <a:bodyPr wrap="square" rtlCol="0" anchor="ctr"/>
          <a:lstStyle/>
          <a:p>
            <a:pPr indent="0" marL="0">
              <a:buNone/>
            </a:pPr>
            <a:r>
              <a:rPr lang="en-US" sz="1100" b="1" spc="100" kern="0" dirty="0">
                <a:solidFill>
                  <a:srgbClr val="35C88A"/>
                </a:solidFill>
                <a:latin typeface="Calibri" pitchFamily="34" charset="0"/>
                <a:ea typeface="Calibri" pitchFamily="34" charset="-122"/>
                <a:cs typeface="Calibri" pitchFamily="34" charset="-120"/>
              </a:rPr>
              <a:t>Para debatir en clase</a:t>
            </a:r>
            <a:endParaRPr lang="en-US" sz="1100" dirty="0"/>
          </a:p>
        </p:txBody>
      </p:sp>
      <p:sp>
        <p:nvSpPr>
          <p:cNvPr id="18" name="Text 16"/>
          <p:cNvSpPr/>
          <p:nvPr/>
        </p:nvSpPr>
        <p:spPr>
          <a:xfrm>
            <a:off x="822960" y="5779008"/>
            <a:ext cx="10241280" cy="594360"/>
          </a:xfrm>
          <a:prstGeom prst="rect">
            <a:avLst/>
          </a:prstGeom>
          <a:noFill/>
          <a:ln/>
        </p:spPr>
        <p:txBody>
          <a:bodyPr wrap="square" rtlCol="0" anchor="ctr"/>
          <a:lstStyle/>
          <a:p>
            <a:pPr indent="0" marL="0">
              <a:buNone/>
            </a:pPr>
            <a:r>
              <a:rPr lang="en-US" sz="1150" i="1" dirty="0">
                <a:solidFill>
                  <a:srgbClr val="D7E0E3"/>
                </a:solidFill>
                <a:latin typeface="Calibri" pitchFamily="34" charset="0"/>
                <a:ea typeface="Calibri" pitchFamily="34" charset="-122"/>
                <a:cs typeface="Calibri" pitchFamily="34" charset="-120"/>
              </a:rPr>
              <a:t>Si su empresa opera una API que conecta la pasarela de pagos de un banco (Entidad A) con un supermercado virtual (Entidad B), ¿de quién es la culpa si un fallo de configuración en Kubernetes permite interceptar las transacciones?</a:t>
            </a:r>
            <a:endParaRPr lang="en-US" sz="1150" dirty="0"/>
          </a:p>
        </p:txBody>
      </p:sp>
      <p:sp>
        <p:nvSpPr>
          <p:cNvPr id="19" name="Text 17"/>
          <p:cNvSpPr/>
          <p:nvPr/>
        </p:nvSpPr>
        <p:spPr>
          <a:xfrm>
            <a:off x="457200" y="6537960"/>
            <a:ext cx="3657600" cy="274320"/>
          </a:xfrm>
          <a:prstGeom prst="rect">
            <a:avLst/>
          </a:prstGeom>
          <a:noFill/>
          <a:ln/>
        </p:spPr>
        <p:txBody>
          <a:bodyPr wrap="square" rtlCol="0" anchor="ctr"/>
          <a:lstStyle/>
          <a:p>
            <a:pPr indent="0" marL="0">
              <a:buNone/>
            </a:pPr>
            <a:r>
              <a:rPr lang="en-US" sz="900" dirty="0">
                <a:solidFill>
                  <a:srgbClr val="68767D"/>
                </a:solidFill>
                <a:latin typeface="Calibri" pitchFamily="34" charset="0"/>
                <a:ea typeface="Calibri" pitchFamily="34" charset="-122"/>
                <a:cs typeface="Calibri" pitchFamily="34" charset="-120"/>
              </a:rPr>
              <a:t>ISO/IEC 27010</a:t>
            </a:r>
            <a:endParaRPr lang="en-US" sz="900" dirty="0"/>
          </a:p>
        </p:txBody>
      </p:sp>
      <p:sp>
        <p:nvSpPr>
          <p:cNvPr id="20" name="Text 18"/>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68767D"/>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2026-08-10T02:03:41Z</dcterms:created>
  <dcterms:modified xsi:type="dcterms:W3CDTF">2026-08-10T02:03:41Z</dcterms:modified>
</cp:coreProperties>
</file>