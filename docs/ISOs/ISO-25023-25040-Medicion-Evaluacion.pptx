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B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1645920"/>
            <a:ext cx="5029200" cy="5029200"/>
          </a:xfrm>
          <a:prstGeom prst="ellipse">
            <a:avLst/>
          </a:prstGeom>
          <a:solidFill>
            <a:srgbClr val="1C1638"/>
          </a:solidFill>
          <a:ln/>
        </p:spPr>
      </p:sp>
      <p:sp>
        <p:nvSpPr>
          <p:cNvPr id="3" name="Shape 1"/>
          <p:cNvSpPr/>
          <p:nvPr/>
        </p:nvSpPr>
        <p:spPr>
          <a:xfrm>
            <a:off x="10881360" y="4754880"/>
            <a:ext cx="2377440" cy="2377440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137160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spc="200" kern="0" dirty="0">
                <a:solidFill>
                  <a:srgbClr val="00A89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25000 — SQuaRE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31520" y="1874520"/>
            <a:ext cx="987552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 la Teoría a la Práctica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98755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C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Medición y Evaluación de la Calidad del Software</a:t>
            </a:r>
            <a:endParaRPr lang="en-US" sz="2100" dirty="0"/>
          </a:p>
        </p:txBody>
      </p:sp>
      <p:sp>
        <p:nvSpPr>
          <p:cNvPr id="7" name="Text 5"/>
          <p:cNvSpPr/>
          <p:nvPr/>
        </p:nvSpPr>
        <p:spPr>
          <a:xfrm>
            <a:off x="731520" y="3337560"/>
            <a:ext cx="8686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9C93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Herramientas, metodologías e infraestructura bajo el estándar ISO/IEC 25000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31520" y="5029200"/>
            <a:ext cx="1463040" cy="0"/>
          </a:xfrm>
          <a:prstGeom prst="line">
            <a:avLst/>
          </a:prstGeom>
          <a:noFill/>
          <a:ln w="38100">
            <a:solidFill>
              <a:srgbClr val="F0A83A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521208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B7AFD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Ingeniería de Software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ECOSISTEMA SQUARE PARA LA EVALUACIÓN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pasamos de características a métricas reales?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00A896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25010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82296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“Qué”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31546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Modelo de calidad: Mantenibilidad, Seguridad, Fiabilidad, etc.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4343400" y="173736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F0A83A"/>
          </a:solidFill>
          <a:ln/>
        </p:spPr>
      </p:sp>
      <p:sp>
        <p:nvSpPr>
          <p:cNvPr id="9" name="Text 7"/>
          <p:cNvSpPr/>
          <p:nvPr/>
        </p:nvSpPr>
        <p:spPr>
          <a:xfrm>
            <a:off x="461772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25023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61772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“Con Qué”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4617720" y="31546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1C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Métricas del producto: complejidad ciclomática, tiempo de respuesta.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8138160" y="1737360"/>
            <a:ext cx="3566160" cy="2834640"/>
          </a:xfrm>
          <a:prstGeom prst="roundRect">
            <a:avLst>
              <a:gd name="adj" fmla="val 3226"/>
            </a:avLst>
          </a:prstGeom>
          <a:solidFill>
            <a:srgbClr val="2B2250"/>
          </a:solidFill>
          <a:ln/>
        </p:spPr>
      </p:sp>
      <p:sp>
        <p:nvSpPr>
          <p:cNvPr id="13" name="Text 11"/>
          <p:cNvSpPr/>
          <p:nvPr/>
        </p:nvSpPr>
        <p:spPr>
          <a:xfrm>
            <a:off x="8412480" y="201168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25040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8412480" y="2514600"/>
            <a:ext cx="30175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“Cómo”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8412480" y="3154680"/>
            <a:ext cx="3017520" cy="12801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F1EF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de evaluación en 5 pasos: establecer, especificar, diseñar, ejecutar, concluir.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8463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objetivo de hoy: mapear este estándar a herramientas y arquitecturas modernas.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25023 · 25040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ADECUACIÓN FUNCIONAL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si el software hace lo que debe hacer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MEDIR (ISO 25023)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34086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cobertura de requisitos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96265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éxito de casos de prueba de usuario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5844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45643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Exactitud de los resultados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solidFill>
            <a:srgbClr val="F0A8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44568" y="2340864"/>
            <a:ext cx="82296" cy="82296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17" name="Text 15"/>
          <p:cNvSpPr/>
          <p:nvPr/>
        </p:nvSpPr>
        <p:spPr>
          <a:xfrm>
            <a:off x="472744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BDD — definir el comportamiento esperado antes de programar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44568" y="2962656"/>
            <a:ext cx="82296" cy="82296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2744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TDD (Test-Driven Development)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solidFill>
            <a:srgbClr val="2B2250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 INFRAESTRUCTURA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39328" y="2340864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4" name="Text 22"/>
          <p:cNvSpPr/>
          <p:nvPr/>
        </p:nvSpPr>
        <p:spPr>
          <a:xfrm>
            <a:off x="852220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Cucumber, Selenium, Appium, Postman, JUnit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39328" y="2962656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6" name="Text 24"/>
          <p:cNvSpPr/>
          <p:nvPr/>
        </p:nvSpPr>
        <p:spPr>
          <a:xfrm>
            <a:off x="852220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Entornos efímeros en el pipeline CI/CD para pruebas de integración automatizadas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25023 · 25040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EFICIENCIA DE DESEMPEÑO Y ESCALABILIDAD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rendimiento bajo presión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MEDIR (ISO 25023)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34086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respuesta (ms)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96265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Throughput — transacciones por segundo (TPS)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5844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45643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Consumo de CPU / RAM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420624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078224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Límites de concurrencia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solidFill>
            <a:srgbClr val="F0A8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44568" y="2340864"/>
            <a:ext cx="82296" cy="82296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2744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Engineering: pruebas de carga continuas en el pipeline, no solo al final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solidFill>
            <a:srgbClr val="2B2250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 INFRAESTRUCTURA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39328" y="2340864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4" name="Text 22"/>
          <p:cNvSpPr/>
          <p:nvPr/>
        </p:nvSpPr>
        <p:spPr>
          <a:xfrm>
            <a:off x="852220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Apache JMeter, Gatling, k6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39328" y="2962656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6" name="Text 24"/>
          <p:cNvSpPr/>
          <p:nvPr/>
        </p:nvSpPr>
        <p:spPr>
          <a:xfrm>
            <a:off x="852220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Monitoreo: Grafana, Prometheus, Datadog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39328" y="3584448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8" name="Text 26"/>
          <p:cNvSpPr/>
          <p:nvPr/>
        </p:nvSpPr>
        <p:spPr>
          <a:xfrm>
            <a:off x="8522208" y="345643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Auto-scaling en AWS/Azure/GCP, Kubernetes HPA, CDN y caché (Redis)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25023 · 25040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COMPATIBILIDAD E INTEROPERABILIDAD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cómo convive e interactúa con otros sistemas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MEDIR (ISO 25023)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34086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formatos de datos soportados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96265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Tasa de éxito en intercambio de mensajes (API)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5844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45643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Conflictos de recursos compartidos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solidFill>
            <a:srgbClr val="F0A8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44568" y="2340864"/>
            <a:ext cx="82296" cy="82296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17" name="Text 15"/>
          <p:cNvSpPr/>
          <p:nvPr/>
        </p:nvSpPr>
        <p:spPr>
          <a:xfrm>
            <a:off x="472744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API-First Design: diseñar los contratos de comunicación antes que la lógica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44568" y="2962656"/>
            <a:ext cx="82296" cy="82296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2744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Contract Testing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solidFill>
            <a:srgbClr val="2B2250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 INFRAESTRUCTURA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39328" y="2340864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4" name="Text 22"/>
          <p:cNvSpPr/>
          <p:nvPr/>
        </p:nvSpPr>
        <p:spPr>
          <a:xfrm>
            <a:off x="852220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Swagger / OpenAPI, Pact, Kafka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39328" y="2962656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6" name="Text 24"/>
          <p:cNvSpPr/>
          <p:nvPr/>
        </p:nvSpPr>
        <p:spPr>
          <a:xfrm>
            <a:off x="852220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 Gateways (Kong, AWS API Gateway)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39328" y="3584448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8" name="Text 26"/>
          <p:cNvSpPr/>
          <p:nvPr/>
        </p:nvSpPr>
        <p:spPr>
          <a:xfrm>
            <a:off x="8522208" y="345643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Microservicios con Service Mesh (Istio)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25023 · 25040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FIABILIDAD Y SAFETY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 resiliencia y prevención de fallos catastróficos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MEDIR (ISO 25023)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34086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MTBF — tiempo medio entre fallos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96265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MTTR — tiempo medio de recuperación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5844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45643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disponibilidad (SLA 99.99%)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solidFill>
            <a:srgbClr val="F0A8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44568" y="2340864"/>
            <a:ext cx="82296" cy="82296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17" name="Text 15"/>
          <p:cNvSpPr/>
          <p:nvPr/>
        </p:nvSpPr>
        <p:spPr>
          <a:xfrm>
            <a:off x="472744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SRE (Site Reliability Engineering)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44568" y="2962656"/>
            <a:ext cx="82296" cy="82296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2744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Engineering: romper el sistema a propósito para ver cómo se recupera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813816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21" name="Shape 19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solidFill>
            <a:srgbClr val="2B2250"/>
          </a:solidFill>
          <a:ln/>
        </p:spPr>
      </p:sp>
      <p:sp>
        <p:nvSpPr>
          <p:cNvPr id="22" name="Text 20"/>
          <p:cNvSpPr/>
          <p:nvPr/>
        </p:nvSpPr>
        <p:spPr>
          <a:xfrm>
            <a:off x="832104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 INFRAESTRUCTURA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39328" y="2340864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4" name="Text 22"/>
          <p:cNvSpPr/>
          <p:nvPr/>
        </p:nvSpPr>
        <p:spPr>
          <a:xfrm>
            <a:off x="852220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Chaos Monkey, Gremlin, SonarQube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39328" y="2962656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6" name="Text 24"/>
          <p:cNvSpPr/>
          <p:nvPr/>
        </p:nvSpPr>
        <p:spPr>
          <a:xfrm>
            <a:off x="852220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Despliegues multi-zona / multi-región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39328" y="3584448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8" name="Text 26"/>
          <p:cNvSpPr/>
          <p:nvPr/>
        </p:nvSpPr>
        <p:spPr>
          <a:xfrm>
            <a:off x="8522208" y="345643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Circuit Breaker, bases de datos con failover automático</a:t>
            </a:r>
            <a:endParaRPr lang="en-US" sz="1100" dirty="0"/>
          </a:p>
        </p:txBody>
      </p:sp>
      <p:sp>
        <p:nvSpPr>
          <p:cNvPr id="29" name="Text 27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25023 · 25040</a:t>
            </a:r>
            <a:endParaRPr lang="en-US" sz="900" dirty="0"/>
          </a:p>
        </p:txBody>
      </p:sp>
      <p:sp>
        <p:nvSpPr>
          <p:cNvPr id="30" name="Text 28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SEGURIDAD (SECURITY)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la protección contra amenazas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MEDIR (ISO 25023)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34086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Cantidad de vulnerabilidades críticas (CVSS)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96265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Tiempo de remediación de parches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5844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45643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Resistencia a inyecciones SQL / XSS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434340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14" name="Shape 12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solidFill>
            <a:srgbClr val="F0A83A"/>
          </a:solidFill>
          <a:ln/>
        </p:spPr>
      </p:sp>
      <p:sp>
        <p:nvSpPr>
          <p:cNvPr id="15" name="Text 13"/>
          <p:cNvSpPr/>
          <p:nvPr/>
        </p:nvSpPr>
        <p:spPr>
          <a:xfrm>
            <a:off x="452628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544568" y="2340864"/>
            <a:ext cx="82296" cy="82296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17" name="Text 15"/>
          <p:cNvSpPr/>
          <p:nvPr/>
        </p:nvSpPr>
        <p:spPr>
          <a:xfrm>
            <a:off x="472744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DevSecOps: seguridad desde la primera línea de código (Shift-Left Security)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813816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19" name="Shape 17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solidFill>
            <a:srgbClr val="2B2250"/>
          </a:solidFill>
          <a:ln/>
        </p:spPr>
      </p:sp>
      <p:sp>
        <p:nvSpPr>
          <p:cNvPr id="20" name="Text 18"/>
          <p:cNvSpPr/>
          <p:nvPr/>
        </p:nvSpPr>
        <p:spPr>
          <a:xfrm>
            <a:off x="832104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 INFRAESTRUCTURA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8339328" y="2340864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2" name="Text 20"/>
          <p:cNvSpPr/>
          <p:nvPr/>
        </p:nvSpPr>
        <p:spPr>
          <a:xfrm>
            <a:off x="852220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SAST: SonarQube, Checkmarx · SCA: Snyk, Trivy · DAST: OWASP ZAP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8339328" y="2962656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4" name="Text 22"/>
          <p:cNvSpPr/>
          <p:nvPr/>
        </p:nvSpPr>
        <p:spPr>
          <a:xfrm>
            <a:off x="852220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WAF, gestión de secretos (HashiCorp Vault)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39328" y="3584448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6" name="Text 24"/>
          <p:cNvSpPr/>
          <p:nvPr/>
        </p:nvSpPr>
        <p:spPr>
          <a:xfrm>
            <a:off x="8522208" y="345643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Arquitecturas Zero-Trust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25023 · 25040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MANTENIBILIDAD Y FLEXIBILIDAD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el costo del cambio futuro (deuda técnica)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600200"/>
            <a:ext cx="3611880" cy="502920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73152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CÓMO MEDIR (ISO 25023)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749808" y="2340864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8" name="Text 6"/>
          <p:cNvSpPr/>
          <p:nvPr/>
        </p:nvSpPr>
        <p:spPr>
          <a:xfrm>
            <a:off x="93268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Complejidad ciclomática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49808" y="2962656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0" name="Text 8"/>
          <p:cNvSpPr/>
          <p:nvPr/>
        </p:nvSpPr>
        <p:spPr>
          <a:xfrm>
            <a:off x="93268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código duplicado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749808" y="3584448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2" name="Text 10"/>
          <p:cNvSpPr/>
          <p:nvPr/>
        </p:nvSpPr>
        <p:spPr>
          <a:xfrm>
            <a:off x="932688" y="345643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de cobertura de pruebas unitarias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49808" y="4206240"/>
            <a:ext cx="82296" cy="82296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4" name="Text 12"/>
          <p:cNvSpPr/>
          <p:nvPr/>
        </p:nvSpPr>
        <p:spPr>
          <a:xfrm>
            <a:off x="932688" y="4078224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Índice de deuda técnica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434340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16" name="Shape 14"/>
          <p:cNvSpPr/>
          <p:nvPr/>
        </p:nvSpPr>
        <p:spPr>
          <a:xfrm>
            <a:off x="4343400" y="1600200"/>
            <a:ext cx="3611880" cy="502920"/>
          </a:xfrm>
          <a:prstGeom prst="rect">
            <a:avLst/>
          </a:prstGeom>
          <a:solidFill>
            <a:srgbClr val="F0A83A"/>
          </a:solidFill>
          <a:ln/>
        </p:spPr>
      </p:sp>
      <p:sp>
        <p:nvSpPr>
          <p:cNvPr id="17" name="Text 15"/>
          <p:cNvSpPr/>
          <p:nvPr/>
        </p:nvSpPr>
        <p:spPr>
          <a:xfrm>
            <a:off x="452628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METODOLOGÍAS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4544568" y="2340864"/>
            <a:ext cx="82296" cy="82296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19" name="Text 17"/>
          <p:cNvSpPr/>
          <p:nvPr/>
        </p:nvSpPr>
        <p:spPr>
          <a:xfrm>
            <a:off x="472744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 Code, refactorización continua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544568" y="2962656"/>
            <a:ext cx="82296" cy="82296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21" name="Text 19"/>
          <p:cNvSpPr/>
          <p:nvPr/>
        </p:nvSpPr>
        <p:spPr>
          <a:xfrm>
            <a:off x="472744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GitFlow o Trunk-Based Development</a:t>
            </a:r>
            <a:endParaRPr lang="en-US" sz="1100" dirty="0"/>
          </a:p>
        </p:txBody>
      </p:sp>
      <p:sp>
        <p:nvSpPr>
          <p:cNvPr id="22" name="Shape 20"/>
          <p:cNvSpPr/>
          <p:nvPr/>
        </p:nvSpPr>
        <p:spPr>
          <a:xfrm>
            <a:off x="8138160" y="1600200"/>
            <a:ext cx="3611880" cy="4434840"/>
          </a:xfrm>
          <a:prstGeom prst="roundRect">
            <a:avLst>
              <a:gd name="adj" fmla="val 2025"/>
            </a:avLst>
          </a:prstGeom>
          <a:solidFill>
            <a:srgbClr val="F6F6FB"/>
          </a:solidFill>
          <a:ln/>
        </p:spPr>
      </p:sp>
      <p:sp>
        <p:nvSpPr>
          <p:cNvPr id="23" name="Shape 21"/>
          <p:cNvSpPr/>
          <p:nvPr/>
        </p:nvSpPr>
        <p:spPr>
          <a:xfrm>
            <a:off x="8138160" y="1600200"/>
            <a:ext cx="3611880" cy="502920"/>
          </a:xfrm>
          <a:prstGeom prst="rect">
            <a:avLst/>
          </a:prstGeom>
          <a:solidFill>
            <a:srgbClr val="2B2250"/>
          </a:solidFill>
          <a:ln/>
        </p:spPr>
      </p:sp>
      <p:sp>
        <p:nvSpPr>
          <p:cNvPr id="24" name="Text 22"/>
          <p:cNvSpPr/>
          <p:nvPr/>
        </p:nvSpPr>
        <p:spPr>
          <a:xfrm>
            <a:off x="8321040" y="16002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HERRAMIENTAS E INFRAESTRUCTURA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8339328" y="2340864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6" name="Text 24"/>
          <p:cNvSpPr/>
          <p:nvPr/>
        </p:nvSpPr>
        <p:spPr>
          <a:xfrm>
            <a:off x="8522208" y="2212848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SonarQube, CodeClimate, GitHub/GitLab CI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339328" y="2962656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28" name="Text 26"/>
          <p:cNvSpPr/>
          <p:nvPr/>
        </p:nvSpPr>
        <p:spPr>
          <a:xfrm>
            <a:off x="8522208" y="2834640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Contenedorización: Docker, Podman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8339328" y="3584448"/>
            <a:ext cx="82296" cy="82296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30" name="Text 28"/>
          <p:cNvSpPr/>
          <p:nvPr/>
        </p:nvSpPr>
        <p:spPr>
          <a:xfrm>
            <a:off x="8522208" y="3456432"/>
            <a:ext cx="3044952" cy="6400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10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IaC: Terraform, Ansible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25023 · 25040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2B225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 PROCESO ISO/IEC 25040 EN ACCIÓN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¿Cómo armar el plan de evaluación?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2029968" cy="3931920"/>
          </a:xfrm>
          <a:prstGeom prst="roundRect">
            <a:avLst>
              <a:gd name="adj" fmla="val 3604"/>
            </a:avLst>
          </a:prstGeom>
          <a:solidFill>
            <a:srgbClr val="1C16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307592" y="19659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307592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69748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Establecer el propósito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685800" y="342900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¿Por qué evaluamos? Ej.: para pasar a producción.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2560320" y="200253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2724912" y="1691640"/>
            <a:ext cx="2029968" cy="3931920"/>
          </a:xfrm>
          <a:prstGeom prst="roundRect">
            <a:avLst>
              <a:gd name="adj" fmla="val 3604"/>
            </a:avLst>
          </a:prstGeom>
          <a:solidFill>
            <a:srgbClr val="1C16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3483864" y="1965960"/>
            <a:ext cx="512064" cy="512064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12" name="Text 10"/>
          <p:cNvSpPr/>
          <p:nvPr/>
        </p:nvSpPr>
        <p:spPr>
          <a:xfrm>
            <a:off x="3483864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3" name="Text 11"/>
          <p:cNvSpPr/>
          <p:nvPr/>
        </p:nvSpPr>
        <p:spPr>
          <a:xfrm>
            <a:off x="2862072" y="269748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Especificar la evaluación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2862072" y="342900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métricas importan? Ej.: ISO 25023 — rendimiento y seguridad.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36592" y="200253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4901184" y="1691640"/>
            <a:ext cx="2029968" cy="3931920"/>
          </a:xfrm>
          <a:prstGeom prst="roundRect">
            <a:avLst>
              <a:gd name="adj" fmla="val 3604"/>
            </a:avLst>
          </a:prstGeom>
          <a:solidFill>
            <a:srgbClr val="1C16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660136" y="19659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18" name="Text 16"/>
          <p:cNvSpPr/>
          <p:nvPr/>
        </p:nvSpPr>
        <p:spPr>
          <a:xfrm>
            <a:off x="5660136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5038344" y="269748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Diseñar la evaluación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5038344" y="342900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¿Qué herramientas usaremos en el pipeline CI/CD?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912864" y="200253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2" name="Shape 20"/>
          <p:cNvSpPr/>
          <p:nvPr/>
        </p:nvSpPr>
        <p:spPr>
          <a:xfrm>
            <a:off x="7077456" y="1691640"/>
            <a:ext cx="2029968" cy="3931920"/>
          </a:xfrm>
          <a:prstGeom prst="roundRect">
            <a:avLst>
              <a:gd name="adj" fmla="val 3604"/>
            </a:avLst>
          </a:prstGeom>
          <a:solidFill>
            <a:srgbClr val="1C16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836408" y="1965960"/>
            <a:ext cx="512064" cy="512064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24" name="Text 22"/>
          <p:cNvSpPr/>
          <p:nvPr/>
        </p:nvSpPr>
        <p:spPr>
          <a:xfrm>
            <a:off x="7836408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7214616" y="269748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Ejecutar la evaluación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7214616" y="342900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Correr los tests automatizados: JMeter, SonarQube, Cypress.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9089136" y="2002536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6"/>
          <p:cNvSpPr/>
          <p:nvPr/>
        </p:nvSpPr>
        <p:spPr>
          <a:xfrm>
            <a:off x="9253728" y="1691640"/>
            <a:ext cx="2029968" cy="3931920"/>
          </a:xfrm>
          <a:prstGeom prst="roundRect">
            <a:avLst>
              <a:gd name="adj" fmla="val 3604"/>
            </a:avLst>
          </a:prstGeom>
          <a:solidFill>
            <a:srgbClr val="1C1638"/>
          </a:solidFill>
          <a:ln w="12700">
            <a:solidFill>
              <a:srgbClr val="00A896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0012680" y="1965960"/>
            <a:ext cx="512064" cy="51206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30" name="Text 28"/>
          <p:cNvSpPr/>
          <p:nvPr/>
        </p:nvSpPr>
        <p:spPr>
          <a:xfrm>
            <a:off x="10012680" y="1965960"/>
            <a:ext cx="512064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1C16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9390888" y="2697480"/>
            <a:ext cx="1755648" cy="685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Concluir la evaluación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9390888" y="3429000"/>
            <a:ext cx="1755648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FC9E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Decisiones basadas en “Quality Gates”: si hay vulnerabilidades altas, se bloquea el despliegue.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25023 · 25040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150" kern="0" dirty="0">
                <a:solidFill>
                  <a:srgbClr val="F0A8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CONCLUSIONES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713232"/>
            <a:ext cx="10789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calidad automatizada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73736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6F6FB"/>
          </a:solidFill>
          <a:ln/>
        </p:spPr>
      </p:sp>
      <p:sp>
        <p:nvSpPr>
          <p:cNvPr id="5" name="Shape 3"/>
          <p:cNvSpPr/>
          <p:nvPr/>
        </p:nvSpPr>
        <p:spPr>
          <a:xfrm>
            <a:off x="822960" y="1956816"/>
            <a:ext cx="146304" cy="146304"/>
          </a:xfrm>
          <a:prstGeom prst="ellipse">
            <a:avLst/>
          </a:prstGeom>
          <a:solidFill>
            <a:srgbClr val="00A896"/>
          </a:solidFill>
          <a:ln/>
        </p:spPr>
      </p:sp>
      <p:sp>
        <p:nvSpPr>
          <p:cNvPr id="6" name="Text 4"/>
          <p:cNvSpPr/>
          <p:nvPr/>
        </p:nvSpPr>
        <p:spPr>
          <a:xfrm>
            <a:off x="1097280" y="190195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es solo teoría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914400" y="228600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norma ISO se mapea directamente a la cultura DevOps / DevSecOps.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315468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6F6FB"/>
          </a:solidFill>
          <a:ln/>
        </p:spPr>
      </p:sp>
      <p:sp>
        <p:nvSpPr>
          <p:cNvPr id="9" name="Shape 7"/>
          <p:cNvSpPr/>
          <p:nvPr/>
        </p:nvSpPr>
        <p:spPr>
          <a:xfrm>
            <a:off x="822960" y="3374136"/>
            <a:ext cx="146304" cy="146304"/>
          </a:xfrm>
          <a:prstGeom prst="ellipse">
            <a:avLst/>
          </a:prstGeom>
          <a:solidFill>
            <a:srgbClr val="F0A83A"/>
          </a:solidFill>
          <a:ln/>
        </p:spPr>
      </p:sp>
      <p:sp>
        <p:nvSpPr>
          <p:cNvPr id="10" name="Text 8"/>
          <p:cNvSpPr/>
          <p:nvPr/>
        </p:nvSpPr>
        <p:spPr>
          <a:xfrm>
            <a:off x="1097280" y="331927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Medir a mano es obsoleto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914400" y="370332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Las métricas de la ISO 25023 deben extraerse automáticamente mediante pipelines de integración continua (CI/CD).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4572000"/>
            <a:ext cx="10789920" cy="1234440"/>
          </a:xfrm>
          <a:prstGeom prst="roundRect">
            <a:avLst>
              <a:gd name="adj" fmla="val 5926"/>
            </a:avLst>
          </a:prstGeom>
          <a:solidFill>
            <a:srgbClr val="F6F6FB"/>
          </a:solidFill>
          <a:ln/>
        </p:spPr>
      </p:sp>
      <p:sp>
        <p:nvSpPr>
          <p:cNvPr id="13" name="Shape 11"/>
          <p:cNvSpPr/>
          <p:nvPr/>
        </p:nvSpPr>
        <p:spPr>
          <a:xfrm>
            <a:off x="822960" y="4791456"/>
            <a:ext cx="146304" cy="146304"/>
          </a:xfrm>
          <a:prstGeom prst="ellipse">
            <a:avLst/>
          </a:prstGeom>
          <a:solidFill>
            <a:srgbClr val="2B2250"/>
          </a:solidFill>
          <a:ln/>
        </p:spPr>
      </p:sp>
      <p:sp>
        <p:nvSpPr>
          <p:cNvPr id="14" name="Text 12"/>
          <p:cNvSpPr/>
          <p:nvPr/>
        </p:nvSpPr>
        <p:spPr>
          <a:xfrm>
            <a:off x="1097280" y="4736592"/>
            <a:ext cx="97840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2B225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 infraestructura determina la calidad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914400" y="5120640"/>
            <a:ext cx="996696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231D3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Escalabilidad, disponibilidad y safety dependen tanto del código como de la arquitectura cloud (Kubernetes, IaC, multi-región).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57200" y="653796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ISO/IEC 25023 · 25040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1521440" y="6537960"/>
            <a:ext cx="3657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746E8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2026-08-10T02:03:41Z</dcterms:created>
  <dcterms:modified xsi:type="dcterms:W3CDTF">2026-08-10T02:03:41Z</dcterms:modified>
</cp:coreProperties>
</file>